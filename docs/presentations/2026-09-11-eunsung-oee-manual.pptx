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78"/>
    <p:restoredTop sz="94694"/>
  </p:normalViewPr>
  <p:slideViewPr>
    <p:cSldViewPr snapToGrid="0" snapToObjects="1">
      <p:cViewPr varScale="1">
        <p:scale>
          <a:sx n="98" d="100"/>
          <a:sy n="98" d="100"/>
        </p:scale>
        <p:origin x="216" y="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8BC70-BA0D-4946-A3BB-2EED93412F00}" type="datetimeFigureOut">
              <a:rPr kumimoji="1" lang="ko-KR" altLang="en-US" smtClean="0"/>
              <a:t>2026. 9. 11.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98A35-460F-1F41-8133-DBC1320FA6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948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98A35-460F-1F41-8133-DBC1320FA66E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87292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417320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9AA3B2"/>
                </a:solidFill>
                <a:latin typeface="Malgun Gothic"/>
              </a:rPr>
              <a:t>EUNSUNG 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1089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Malgun Gothic"/>
              </a:rPr>
              <a:t>은성 전장 OEE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2245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C7CED8"/>
                </a:solidFill>
                <a:latin typeface="Malgun Gothic"/>
              </a:rPr>
              <a:t>사용자 매뉴얼 · 기준정보 및 OEE 관리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760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A8392"/>
                </a:solidFill>
                <a:latin typeface="Malgun Gothic"/>
              </a:rPr>
              <a:t>2026-09-11 · 은성전장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6007E"/>
                </a:solidFill>
                <a:latin typeface="Malgun Gothic"/>
              </a:rPr>
              <a:t>기준정보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39496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143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6007E"/>
                </a:solidFill>
                <a:latin typeface="Malgun Gothic"/>
              </a:rPr>
              <a:t>OEE 관리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481328"/>
            <a:ext cx="534924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64592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품목관리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93395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933956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BOM관리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2199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22199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거래처관리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5100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510028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고객마스터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79806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79806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설비마스터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08610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08610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표준시간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337413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374136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설비 비가동 사유코드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66217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66217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설비별 비가동 사유 연계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95020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950208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공정관리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23824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23824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생산라인관리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52628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52628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생산월력관리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81431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814316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작업자관리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10235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510235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라벨다자인관리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539038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390388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구매단가관리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67842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567842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품목별 공급처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5966459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5966459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제품판매단가관리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164592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16459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OEE 비가동 입력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193395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6288" y="1933956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설비별 작업 실적관리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222199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6288" y="222199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설비 운영 현황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25100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288" y="251002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설비 운영 및 실적관리(현장)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2512" y="311810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6007E"/>
                </a:solidFill>
                <a:latin typeface="Malgun Gothic"/>
              </a:rPr>
              <a:t>시작 화면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456432"/>
            <a:ext cx="534924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82512" y="362102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362102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3440"/>
                </a:solidFill>
                <a:latin typeface="Malgun Gothic"/>
              </a:rPr>
              <a:t>로그인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14476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Malgun Gothic"/>
              </a:rPr>
              <a:t>※ 라우팅관리 · 작업지도서관리 · 창고관리, 공정별 OEE 종합 · OEE 종합 현황은 이 매뉴얼의 범위에서 제외되었습니다.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84" y="280535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dirty="0"/>
              <a:t>http://139.150.82.207:3100/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시작  ›  로그인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로그인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00</a:t>
            </a:r>
          </a:p>
        </p:txBody>
      </p:sp>
      <p:pic>
        <p:nvPicPr>
          <p:cNvPr id="8" name="Picture 7" descr="00_로그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은성전장 MES 접속 · 사용자 인증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아이디를 입력합니다. 사번이 아니라 MES 사용자 ID입니다 (예: ADMIN).</a:t>
            </a:r>
          </a:p>
        </p:txBody>
      </p:sp>
      <p:sp>
        <p:nvSpPr>
          <p:cNvPr id="15" name="Oval 14"/>
          <p:cNvSpPr/>
          <p:nvPr/>
        </p:nvSpPr>
        <p:spPr>
          <a:xfrm>
            <a:off x="6293357" y="301579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4003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414016"/>
            <a:ext cx="288950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발급받은 비밀번호를 입력합니다.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6293357" y="3435215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[로그인]을 누르면 인증 후 대시보드로 이동합니다.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293357" y="384440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4692241"/>
            <a:ext cx="3200400" cy="1103495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0" y="4692242"/>
            <a:ext cx="45720" cy="1080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7968" y="4820258"/>
            <a:ext cx="2834640" cy="9292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dirty="0">
                <a:solidFill>
                  <a:srgbClr val="444C59"/>
                </a:solidFill>
                <a:latin typeface="Malgun Gothic"/>
              </a:rPr>
              <a:t>※ </a:t>
            </a:r>
            <a:r>
              <a:rPr sz="950" b="0" dirty="0" err="1">
                <a:solidFill>
                  <a:srgbClr val="444C59"/>
                </a:solidFill>
                <a:latin typeface="Malgun Gothic"/>
              </a:rPr>
              <a:t>회원가입은</a:t>
            </a:r>
            <a:r>
              <a:rPr sz="950" b="0" dirty="0">
                <a:solidFill>
                  <a:srgbClr val="444C59"/>
                </a:solidFill>
                <a:latin typeface="Malgun Gothic"/>
              </a:rPr>
              <a:t> </a:t>
            </a:r>
            <a:r>
              <a:rPr sz="950" b="0" dirty="0" err="1">
                <a:solidFill>
                  <a:srgbClr val="444C59"/>
                </a:solidFill>
                <a:latin typeface="Malgun Gothic"/>
              </a:rPr>
              <a:t>제공하지</a:t>
            </a:r>
            <a:r>
              <a:rPr sz="950" b="0" dirty="0">
                <a:solidFill>
                  <a:srgbClr val="444C59"/>
                </a:solidFill>
                <a:latin typeface="Malgun Gothic"/>
              </a:rPr>
              <a:t> </a:t>
            </a:r>
            <a:r>
              <a:rPr sz="950" b="0" dirty="0" err="1">
                <a:solidFill>
                  <a:srgbClr val="444C59"/>
                </a:solidFill>
                <a:latin typeface="Malgun Gothic"/>
              </a:rPr>
              <a:t>않습니다</a:t>
            </a:r>
            <a:r>
              <a:rPr sz="950" b="0" dirty="0">
                <a:solidFill>
                  <a:srgbClr val="444C59"/>
                </a:solidFill>
                <a:latin typeface="Malgun Gothic"/>
              </a:rPr>
              <a:t>. </a:t>
            </a:r>
            <a:r>
              <a:rPr sz="950" b="0" dirty="0" err="1">
                <a:solidFill>
                  <a:srgbClr val="444C59"/>
                </a:solidFill>
                <a:latin typeface="Malgun Gothic"/>
              </a:rPr>
              <a:t>계정</a:t>
            </a:r>
            <a:r>
              <a:rPr sz="950" b="0" dirty="0">
                <a:solidFill>
                  <a:srgbClr val="444C59"/>
                </a:solidFill>
                <a:latin typeface="Malgun Gothic"/>
              </a:rPr>
              <a:t> </a:t>
            </a:r>
            <a:r>
              <a:rPr sz="950" b="0" dirty="0" err="1">
                <a:solidFill>
                  <a:srgbClr val="444C59"/>
                </a:solidFill>
                <a:latin typeface="Malgun Gothic"/>
              </a:rPr>
              <a:t>발급은</a:t>
            </a:r>
            <a:r>
              <a:rPr sz="950" b="0" dirty="0">
                <a:solidFill>
                  <a:srgbClr val="444C59"/>
                </a:solidFill>
                <a:latin typeface="Malgun Gothic"/>
              </a:rPr>
              <a:t> </a:t>
            </a:r>
            <a:r>
              <a:rPr sz="950" b="0" dirty="0" err="1">
                <a:solidFill>
                  <a:srgbClr val="444C59"/>
                </a:solidFill>
                <a:latin typeface="Malgun Gothic"/>
              </a:rPr>
              <a:t>시스템관리</a:t>
            </a:r>
            <a:r>
              <a:rPr sz="950" b="0" dirty="0">
                <a:solidFill>
                  <a:srgbClr val="444C59"/>
                </a:solidFill>
                <a:latin typeface="Malgun Gothic"/>
              </a:rPr>
              <a:t> › </a:t>
            </a:r>
            <a:r>
              <a:rPr sz="950" b="0" dirty="0" err="1">
                <a:solidFill>
                  <a:srgbClr val="444C59"/>
                </a:solidFill>
                <a:latin typeface="Malgun Gothic"/>
              </a:rPr>
              <a:t>사용자관리에서</a:t>
            </a:r>
            <a:r>
              <a:rPr sz="950" b="0" dirty="0">
                <a:solidFill>
                  <a:srgbClr val="444C59"/>
                </a:solidFill>
                <a:latin typeface="Malgun Gothic"/>
              </a:rPr>
              <a:t> </a:t>
            </a:r>
            <a:r>
              <a:rPr sz="950" b="0" dirty="0" err="1">
                <a:solidFill>
                  <a:srgbClr val="444C59"/>
                </a:solidFill>
                <a:latin typeface="Malgun Gothic"/>
              </a:rPr>
              <a:t>합니다</a:t>
            </a:r>
            <a:r>
              <a:rPr sz="950" b="0" dirty="0">
                <a:solidFill>
                  <a:srgbClr val="444C59"/>
                </a:solidFill>
                <a:latin typeface="Malgun Gothic"/>
              </a:rPr>
              <a:t>.</a:t>
            </a:r>
            <a:endParaRPr lang="en-US" sz="950" b="0" dirty="0">
              <a:solidFill>
                <a:srgbClr val="444C59"/>
              </a:solidFill>
              <a:latin typeface="Malgun Gothic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lang="en-US" sz="950" dirty="0">
              <a:solidFill>
                <a:srgbClr val="444C59"/>
              </a:solidFill>
              <a:latin typeface="Malgun Gothic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altLang="en-US" sz="950" b="0" dirty="0">
                <a:solidFill>
                  <a:srgbClr val="444C59"/>
                </a:solidFill>
                <a:latin typeface="Malgun Gothic"/>
              </a:rPr>
              <a:t>기존 </a:t>
            </a:r>
            <a:r>
              <a:rPr lang="en-US" altLang="ko-KR" sz="950" dirty="0">
                <a:solidFill>
                  <a:srgbClr val="444C59"/>
                </a:solidFill>
                <a:latin typeface="Malgun Gothic"/>
              </a:rPr>
              <a:t>MES</a:t>
            </a:r>
            <a:r>
              <a:rPr lang="ko-KR" altLang="en-US" sz="950" dirty="0">
                <a:solidFill>
                  <a:srgbClr val="444C59"/>
                </a:solidFill>
                <a:latin typeface="Malgun Gothic"/>
              </a:rPr>
              <a:t> 로그인 </a:t>
            </a:r>
            <a:r>
              <a:rPr lang="en-US" altLang="ko-KR" sz="950" dirty="0">
                <a:solidFill>
                  <a:srgbClr val="444C59"/>
                </a:solidFill>
                <a:latin typeface="Malgun Gothic"/>
              </a:rPr>
              <a:t>ID</a:t>
            </a:r>
            <a:r>
              <a:rPr lang="ko-KR" altLang="en-US" sz="950" dirty="0" err="1">
                <a:solidFill>
                  <a:srgbClr val="444C59"/>
                </a:solidFill>
                <a:latin typeface="Malgun Gothic"/>
              </a:rPr>
              <a:t>에</a:t>
            </a:r>
            <a:r>
              <a:rPr lang="ko-KR" altLang="en-US" sz="950" dirty="0">
                <a:solidFill>
                  <a:srgbClr val="444C59"/>
                </a:solidFill>
                <a:latin typeface="Malgun Gothic"/>
              </a:rPr>
              <a:t> 비밀번호는 </a:t>
            </a:r>
            <a:r>
              <a:rPr lang="en-US" altLang="ko-KR" sz="950" dirty="0">
                <a:solidFill>
                  <a:srgbClr val="444C59"/>
                </a:solidFill>
                <a:latin typeface="Malgun Gothic"/>
              </a:rPr>
              <a:t>‘1111’</a:t>
            </a:r>
            <a:r>
              <a:rPr lang="ko-KR" altLang="en-US" sz="950" dirty="0">
                <a:solidFill>
                  <a:srgbClr val="444C59"/>
                </a:solidFill>
                <a:latin typeface="Malgun Gothic"/>
              </a:rPr>
              <a:t>로 통일하였습니다</a:t>
            </a:r>
            <a:r>
              <a:rPr lang="en-US" altLang="ko-KR" sz="950" dirty="0">
                <a:solidFill>
                  <a:srgbClr val="444C59"/>
                </a:solidFill>
                <a:latin typeface="Malgun Gothic"/>
              </a:rPr>
              <a:t>.</a:t>
            </a:r>
            <a:endParaRPr sz="950" b="0" dirty="0">
              <a:solidFill>
                <a:srgbClr val="444C59"/>
              </a:solidFill>
              <a:latin typeface="Malgun Gothi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8B4EC0-462E-2EC9-2A06-CB92F0890401}"/>
              </a:ext>
            </a:extLst>
          </p:cNvPr>
          <p:cNvSpPr txBox="1"/>
          <p:nvPr/>
        </p:nvSpPr>
        <p:spPr>
          <a:xfrm>
            <a:off x="5006407" y="1562106"/>
            <a:ext cx="2899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/>
              <a:t>http://139.150.82.207:3100/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품목관리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품목마스터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01</a:t>
            </a:r>
          </a:p>
        </p:txBody>
      </p:sp>
      <p:pic>
        <p:nvPicPr>
          <p:cNvPr id="8" name="Picture 7" descr="01_품목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품목 정보를 등록하고 관리합니다. (2,519건)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품목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529676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품목코드 · 품번 · 품목명으로 검색합니다.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616630" y="222504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유형 · 사용여부 필터로 목록을 좁힙니다.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503069" y="200559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[품목 추가]로 신규 품목을 등록합니다.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7932411" y="159128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587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872483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연필 아이콘은 수정, 휴지통은 삭제입니다.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1621745" y="264447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[ERP 동기화]는 ERP 품목을 MES로 가져옵니다. 품목은 BOM · 생산 · 재고의 공통 기준입니다.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BOM관리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BOM관리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02</a:t>
            </a:r>
          </a:p>
        </p:txBody>
      </p:sp>
      <p:pic>
        <p:nvPicPr>
          <p:cNvPr id="8" name="Picture 7" descr="02_BOM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제품/반제품 BOM 구조와 투입자재를 관리합니다. (853건)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좌측에서 모품목(품목코드 · 품목명)을 검색합니다.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575711" y="237849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선택한 BOM 기준으로 자품목 구조가 Lv(레벨)별로 펼쳐집니다.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3263636" y="271736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[기준일]을 바꾸면 그 시점에 유효한 BOM만 조회됩니다.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208801" y="16066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헤더 우측 [엑셀 업로드] · [전체이력] · [새로고침]을 사용합니다.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7961622" y="16066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3200400" cy="64008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4905184"/>
            <a:ext cx="45720" cy="64008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33200"/>
            <a:ext cx="2834640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[전체이력]을 켜면 적용일 · 완료일이 지난 이력 행까지 함께 보입니다.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거래처관리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거래처관리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03</a:t>
            </a:r>
          </a:p>
        </p:txBody>
      </p:sp>
      <p:pic>
        <p:nvPicPr>
          <p:cNvPr id="8" name="Picture 7" descr="03_거래처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공급사 및 고객 거래처 정보를 관리합니다. (53건)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거래처코드 · 거래처명 · 사업자번호 · 담당자로 검색합니다.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616630" y="222504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거래처 유형 필터로 공급사/고객을 구분해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7341917" y="200559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[거래처 추가]로 신규 거래처를 등록합니다.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901442" y="159128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행에서 수정 · 삭제하며, 사용여부로 거래 중지를 표시합니다.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1621745" y="264447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3200400" cy="64008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4905184"/>
            <a:ext cx="45720" cy="64008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33200"/>
            <a:ext cx="2834640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여기 등록한 거래처가 구매단가 · 품목별 공급처의 선택 목록이 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고객마스터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고객마스터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04</a:t>
            </a:r>
          </a:p>
        </p:txBody>
      </p:sp>
      <p:pic>
        <p:nvPicPr>
          <p:cNvPr id="8" name="Picture 7" descr="04_고객마스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고객 기준정보(ICOM_CUSTOMER)를 관리합니다. (18건)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고객코드 · 고객명으로 검색합니다.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128123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거래상태 필터로 거래 중인 고객만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3232946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[등록]으로 신규 고객을 추가합니다.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960224" y="159128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거래유형 · 지불유형 · 신용등급 · 사업자번호를 확인합니다.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1601285" y="242581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3200400" cy="64008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4905184"/>
            <a:ext cx="45720" cy="64008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33200"/>
            <a:ext cx="2834640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고객은 제품판매단가관리의 단가 적용 대상이 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설비마스터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설비마스터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05</a:t>
            </a:r>
          </a:p>
        </p:txBody>
      </p:sp>
      <p:pic>
        <p:nvPicPr>
          <p:cNvPr id="8" name="Picture 7" descr="05_설비마스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설비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설비코드 · 설비명으로 검색합니다.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698469" y="230688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설비유형 필터로 대상을 좁힙니다.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4700058" y="208743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[설비 추가]로 신규 설비를 등록합니다.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932411" y="1540135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0861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099816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적용공정 · 통신방식 · IP/Port · 제조사 · 모델을 관리합니다.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1703584" y="253322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설비마스터가 OEE 비가동 처리와 설비 운영 현황의 기준이 됩니다. 적용공정을 반드시 지정하세요.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표준시간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표준시간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06</a:t>
            </a:r>
          </a:p>
        </p:txBody>
      </p:sp>
      <p:pic>
        <p:nvPicPr>
          <p:cNvPr id="8" name="Picture 7" descr="06_표준시간 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품목(모델) 기준 ST/CT/NT/TT 표준시간 · 적용기간 리비전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모델코드 · 모델명으로 통합검색합니다.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616630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[표준시간 등록]으로 모델 × 설비의 표준시간을 추가합니다.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7913830" y="158105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ST · CT · NT · TT(초)와 적용기간을 확인합니다.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1621745" y="242581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행에서 수정 · 삭제합니다. 단가처럼 기간별 리비전으로 관리됩니다.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1621745" y="261378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CT(사이클타임)는 OEE 성능가동률 계산의 분모입니다. 설비·모델이 바뀌면 반드시 갱신하세요.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설비 비가동 사유코드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설비 비가동 사유코드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07</a:t>
            </a:r>
          </a:p>
        </p:txBody>
      </p:sp>
      <p:pic>
        <p:nvPicPr>
          <p:cNvPr id="8" name="Picture 7" descr="07_설비 비가동 사유코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비가동 사유코드 · 표준시간 · 분류별 매뉴얼(BFILE)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사유코드 · 사유명으로 통합검색합니다.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616630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[사유코드 등록]으로 신규 사유를 추가합니다.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7913830" y="158105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표시순서 · 사유구분 · 표준시간 · OEE반영 여부를 설정합니다.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1621745" y="242581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사용구분을 끄면 현장 화면의 사유 버튼에서 제외됩니다.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1621745" y="261378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[OEE반영]이 켜진 사유만 가동률 손실로 집계됩니다. 표시순서가 현장 버튼 배열 순서입니다.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설비별 비가동 사유 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설비별 비가동 사유 연계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08</a:t>
            </a:r>
          </a:p>
        </p:txBody>
      </p:sp>
      <p:pic>
        <p:nvPicPr>
          <p:cNvPr id="8" name="Picture 7" descr="08_설비별 비가동 사유 연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설비마스터 × 비가동사유코드 매핑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설비코드 · 설비명 · 사유코드 · 사유명으로 검색합니다.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616630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[연계 등록]으로 설비에 사용할 사유코드를 연결합니다.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7984639" y="158105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설비별 라인 · 공정과 연계된 비가동 사유를 확인합니다.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1621745" y="242581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최종수정일 · 최종수정자로 변경 이력을 확인합니다.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1621745" y="261378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연계된 사유가 있으면 현장 화면은 그 사유만 보여줍니다. 연계가 없으면 전체 사유가 표시됩니다.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공정관리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공정마스터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09</a:t>
            </a:r>
          </a:p>
        </p:txBody>
      </p:sp>
      <p:pic>
        <p:nvPicPr>
          <p:cNvPr id="8" name="Picture 7" descr="09_공정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공정(Workstage)을 등록 · 분류하고 설비를 배치합니다.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좌측에서 공정코드 · 공정명 · 공정유형 · UPH를 관리합니다.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621745" y="240535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공정을 선택하면 우측에 그 공정의 설비 목록이 표시됩니다.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621745" y="258820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[엑셀 업로드]로 공정을 일괄 등록합니다.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8047777" y="197490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시작공정 지정과 정렬순서로 공정 흐름을 정의합니다.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여기 등록한 공정이 라우팅 · 생산실적 · 공정 CAPA의 기준이 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생산라인관리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생산라인관리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10</a:t>
            </a:r>
          </a:p>
        </p:txBody>
      </p:sp>
      <p:pic>
        <p:nvPicPr>
          <p:cNvPr id="8" name="Picture 7" descr="10_생산라인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생산라인 정보와 OEE 속성을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라인코드 · 라인명으로 검색합니다.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698469" y="230688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[라인 추가]로 신규 라인을 등록합니다.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7932411" y="159128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라인구분 · 라인그룹 · 제품구분 · 라인상태 · 작업장을 설정합니다.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1703584" y="252810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OEE유형과 상위라인코드로 집계 단위를 구성합니다.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1703584" y="271608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OEE 라인 속성은 이 화면에서 통합 관리합니다(별도 OEE 라인 관리 메뉴는 숨김 처리).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생산월력관리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생산월력관리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11</a:t>
            </a:r>
          </a:p>
        </p:txBody>
      </p:sp>
      <p:pic>
        <p:nvPicPr>
          <p:cNvPr id="8" name="Picture 7" descr="11_생산월력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전사 근무일과 라인별 예외, 2교대 근무시간을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[월력] · [교대시간] 탭으로 관리 대상을 전환합니다.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550136" y="212888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좌측에서 [설비] 또는 [라인]을 고르고 대상을 선택합니다.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672894" y="242811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비가동 사유와 시간을 정하고 [계획 비가동 등록]을 누릅니다.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2491282" y="525922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달력에서 날짜를 클릭해 근무유형 · 근무시간을 편집합니다.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6023289" y="396256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587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872483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[연간 생성] · [확정] · [확정취소]로 연 단위 일정을 확정합니다.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8001143" y="159128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확정된 일자는 잠겨 편집이 막힙니다. 하단에 가동일수 · 비가동일수 · 총가용시간이 집계됩니다.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작업자관리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작업자관리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12</a:t>
            </a:r>
          </a:p>
        </p:txBody>
      </p:sp>
      <p:pic>
        <p:nvPicPr>
          <p:cNvPr id="8" name="Picture 7" descr="12_작업자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작업자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사번 · 이름 · 부서로 검색합니다.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025824" y="222504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사용여부 필터로 재직자만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2885132" y="222504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[작업자 추가]로 신규 작업자를 등록합니다.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901442" y="159128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사번 · 이름 · 부서 · 직급 · 전화번호와 사진을 관리합니다.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1621745" y="245138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여기 등록한 작업자가 현장 화면의 작업자 선택 목록이 됩니다. 미등록이면 실적에 작업자가 남지 않습니다.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라벨다자인관리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라벨관리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13</a:t>
            </a:r>
          </a:p>
        </p:txBody>
      </p:sp>
      <p:pic>
        <p:nvPicPr>
          <p:cNvPr id="8" name="Picture 7" descr="13_라벨다자인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바코드 라벨 디자인을 설정하고 템플릿으로 저장합니다.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소스테이블을 골라 라벨에 넣을 데이터 원천을 정합니다.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951146" y="244192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글자 · 1D · 2D · 박스 · 선 · 원 · 이미지 객체를 추가합니다.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951146" y="314624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580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971800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캔버스에서 객체를 배치하고 W · H(mm)로 라벨 크기를 정합니다.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3669761" y="304036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307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744468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객체 속성에서 X/Y/W/H · 소스 필드 · 바코드 유형을 지정합니다.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5900531" y="259994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5034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451713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[새 디자인] · [새로 저장]으로 템플릿을 저장합니다.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471836" y="217643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5170932"/>
            <a:ext cx="3200400" cy="100584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86800" y="5170932"/>
            <a:ext cx="45720" cy="100584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87968" y="5298948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현재 운영 DB에 템플릿 테이블이 없어 저장 · 조회가 실패합니다(ORA-00942). 별도 조치 후 사용하세요.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구매단가관리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구매단가관리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14</a:t>
            </a:r>
          </a:p>
        </p:txBody>
      </p:sp>
      <p:pic>
        <p:nvPicPr>
          <p:cNvPr id="8" name="Picture 7" descr="14_구매단가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품목 · 공급사별 적용 기간과 구매단가를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조회 조건을 지정하고 [유효단가만]으로 현재 단가만 봅니다.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3908117" y="214321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[신규 단가]로 품목 × 공급사의 단가를 등록합니다.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8088696" y="192375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구입유형 · 시작일 · 종료일 · 단가 · 기준단가 · 통화를 확인합니다.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1580826" y="23644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단가를 바꿀 때는 기존 행을 수정하지 말고 새 기간으로 등록합니다.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1580826" y="254217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기간이 겹치면 어느 단가가 적용될지 모호해집니다. 종료일을 닫고 새 단가를 여는 순서로 관리하세요.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품목별 공급처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품목별 공급처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15</a:t>
            </a:r>
          </a:p>
        </p:txBody>
      </p:sp>
      <p:pic>
        <p:nvPicPr>
          <p:cNvPr id="8" name="Picture 7" descr="15_품목별 공급처 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품목별 공급처와 발주 조건을 관리합니다. (1,943건)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품목 · 공급처로 검색합니다.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128123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9705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19842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조회 조건으로 대상 품목을 좁힙니다.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3396624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[등록]으로 품목 × 공급처를 추가합니다.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960224" y="159128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0861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0998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발주형태 · 발주율 · 리드타임 · 불량률을 관리합니다.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1601285" y="242581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3200400" cy="64008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4905184"/>
            <a:ext cx="45720" cy="64008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33200"/>
            <a:ext cx="2834640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발주율은 한 품목을 여러 공급처에 나눠 발주할 때의 배분 비율입니다.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기준정보  ›  제품판매단가관리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제품판매단가관리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16</a:t>
            </a:r>
          </a:p>
        </p:txBody>
      </p:sp>
      <p:pic>
        <p:nvPicPr>
          <p:cNvPr id="8" name="Picture 7" descr="16_제품판매단가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고객 · 제품별 판매단가와 적용 기간을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조회 조건을 지정하고 [유효단가만]으로 현재 단가만 봅니다.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803293" y="214321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[신규 단가]로 고객 × 품목의 판매단가를 등록합니다.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8088696" y="192375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제품라인유형 · 적용기간 · 판매단가 · 외화판매단가를 확인합니다.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1580826" y="23644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단가 변경은 기간을 나눠 새 행으로 등록합니다.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1580826" y="254217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905184"/>
            <a:ext cx="3200400" cy="64008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4905184"/>
            <a:ext cx="45720" cy="64008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33200"/>
            <a:ext cx="2834640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구매단가관리와 동일하게 기간 중복을 피해 관리합니다.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OEE 관리  ›  OEE 비가동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OEE 비가동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17</a:t>
            </a:r>
          </a:p>
        </p:txBody>
      </p:sp>
      <p:pic>
        <p:nvPicPr>
          <p:cNvPr id="8" name="Picture 7" descr="17_OEE 비가동 입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작업장별 LINE/CELL 비가동 시작 · 종료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작업장을 고릅니다 — 전체 · SMT · ASSY 중 선택합니다.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082088" y="280559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대상 LINE/CELL을 체크합니다.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3350590" y="416360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· 가능 · 실패 건수로 명령 대상이 맞는지 확인합니다.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907148" y="274725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[비가동 START]를 눌러 비가동을 시작합니다.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7733720" y="230532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587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872483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[작업자 변경]으로 실적에 남길 작업자를 바꿉니다.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855328" y="170892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상단에서 기기 네트워크 상태와 최근 MES 통신 시각을 항상 확인할 수 있습니다.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OEE 관리  ›  설비별 작업 실적관리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설비별 작업 실적관리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18</a:t>
            </a:r>
          </a:p>
        </p:txBody>
      </p:sp>
      <p:pic>
        <p:nvPicPr>
          <p:cNvPr id="8" name="Picture 7" descr="18_설비별 작업 실적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작업지시 기준 설비 가동상태 · 계획/실적 · 불량 · 비가동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계획일(From ~ To) 범위를 지정합니다.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754733" y="222095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라인을 고르고 품번 · 품명 · 설비코드로 통합검색합니다.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4656582" y="20015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[조회]를 누르면 작업지시 카드가 나열됩니다.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5428136" y="20004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카드에서 계획수량 / 실적수량 / 부적합수량을 확인합니다.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3186912" y="295750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587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872483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카드 우측 [실적등록] · [불량등록]으로 실적을 입력합니다.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070826" y="255391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비가동은 작업지시 없이 설비만 선택해도 등록됩니다. 우측 [설비 비가동]을 사용하세요.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OEE 관리  ›  설비 운영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설비 운영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19</a:t>
            </a:r>
          </a:p>
        </p:txBody>
      </p:sp>
      <p:pic>
        <p:nvPicPr>
          <p:cNvPr id="8" name="Picture 7" descr="19_설비 운영 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설비마스터 기준 현재 가동상태 · 라인/설비 단위 비가동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[모니터링] · [비가동 처리] 탭으로 모드를 전환합니다.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672894" y="215650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설비유형 · 적용공정 · 상태로 대상을 좁힙니다.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836572" y="255240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우측에서 전체 · 비가동 · 표시 대수를 확인합니다.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684617" y="235136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자동갱신 주기(10 · 30 · 60초)를 정하고 [조회]합니다.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28116" y="165266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587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872483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[비가동 관리]로 해당 설비를 비가동 처리합니다.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881030" y="279329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상태 배지가 빨강(비가동) · 초록(정상)입니다. 자동갱신을 켜두면 현황판으로 쓸 수 있습니다.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OEE 관리  ›  설비 운영 및 실적관리(현장)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설비 운영 및 실적관리(현장)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20</a:t>
            </a:r>
          </a:p>
        </p:txBody>
      </p:sp>
      <p:pic>
        <p:nvPicPr>
          <p:cNvPr id="8" name="Picture 7" descr="20_설비 운영 및 실적관리(현장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현장 작업자용 · 라인/설비 비가동 처리와 작업실적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algun Gothic"/>
              </a:rPr>
              <a:t>작업 절차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[라인] 또는 [설비] 단위를 고르고 대상을 선택합니다.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082088" y="222095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바코드를 스캔하거나 작업자를 선택합니다.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4574743" y="2047535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 dirty="0" err="1">
                <a:solidFill>
                  <a:srgbClr val="2E3440"/>
                </a:solidFill>
                <a:latin typeface="Malgun Gothic"/>
              </a:rPr>
              <a:t>좌측</a:t>
            </a:r>
            <a:r>
              <a:rPr sz="1050" b="0" dirty="0">
                <a:solidFill>
                  <a:srgbClr val="2E3440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2E3440"/>
                </a:solidFill>
                <a:latin typeface="Malgun Gothic"/>
              </a:rPr>
              <a:t>당일</a:t>
            </a:r>
            <a:r>
              <a:rPr sz="1050" b="0" dirty="0">
                <a:solidFill>
                  <a:srgbClr val="2E3440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2E3440"/>
                </a:solidFill>
                <a:latin typeface="Malgun Gothic"/>
              </a:rPr>
              <a:t>지표에서</a:t>
            </a:r>
            <a:r>
              <a:rPr sz="1050" b="0" dirty="0">
                <a:solidFill>
                  <a:srgbClr val="2E3440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2E3440"/>
                </a:solidFill>
                <a:latin typeface="Malgun Gothic"/>
              </a:rPr>
              <a:t>가동율</a:t>
            </a:r>
            <a:r>
              <a:rPr sz="1050" b="0" dirty="0">
                <a:solidFill>
                  <a:srgbClr val="2E3440"/>
                </a:solidFill>
                <a:latin typeface="Malgun Gothic"/>
              </a:rPr>
              <a:t> · </a:t>
            </a:r>
            <a:r>
              <a:rPr sz="1050" b="0" dirty="0" err="1">
                <a:solidFill>
                  <a:srgbClr val="2E3440"/>
                </a:solidFill>
                <a:latin typeface="Malgun Gothic"/>
              </a:rPr>
              <a:t>당일</a:t>
            </a:r>
            <a:r>
              <a:rPr sz="1050" b="0" dirty="0">
                <a:solidFill>
                  <a:srgbClr val="2E3440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2E3440"/>
                </a:solidFill>
                <a:latin typeface="Malgun Gothic"/>
              </a:rPr>
              <a:t>비가동</a:t>
            </a:r>
            <a:r>
              <a:rPr sz="1050" b="0" dirty="0">
                <a:solidFill>
                  <a:srgbClr val="2E3440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2E3440"/>
                </a:solidFill>
                <a:latin typeface="Malgun Gothic"/>
              </a:rPr>
              <a:t>시간을</a:t>
            </a:r>
            <a:r>
              <a:rPr sz="1050" b="0" dirty="0">
                <a:solidFill>
                  <a:srgbClr val="2E3440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2E3440"/>
                </a:solidFill>
                <a:latin typeface="Malgun Gothic"/>
              </a:rPr>
              <a:t>확인합니다</a:t>
            </a:r>
            <a:r>
              <a:rPr sz="1050" b="0" dirty="0">
                <a:solidFill>
                  <a:srgbClr val="2E3440"/>
                </a:solidFill>
                <a:latin typeface="Malgun Gothic"/>
              </a:rPr>
              <a:t>.</a:t>
            </a:r>
            <a:r>
              <a:rPr lang="en-US" sz="1050" b="0" dirty="0">
                <a:solidFill>
                  <a:srgbClr val="2E3440"/>
                </a:solidFill>
                <a:latin typeface="Malgun Gothic"/>
              </a:rPr>
              <a:t> (</a:t>
            </a:r>
            <a:r>
              <a:rPr lang="ko-KR" altLang="en-US" sz="1050" dirty="0">
                <a:solidFill>
                  <a:srgbClr val="2E3440"/>
                </a:solidFill>
                <a:latin typeface="Malgun Gothic"/>
              </a:rPr>
              <a:t>현재는 산식 미적용</a:t>
            </a:r>
            <a:r>
              <a:rPr lang="en-US" altLang="ko-KR" sz="1050" dirty="0">
                <a:solidFill>
                  <a:srgbClr val="2E3440"/>
                </a:solidFill>
                <a:latin typeface="Malgun Gothic"/>
              </a:rPr>
              <a:t>)</a:t>
            </a:r>
            <a:endParaRPr sz="1050" b="0" dirty="0">
              <a:solidFill>
                <a:srgbClr val="2E3440"/>
              </a:solidFill>
              <a:latin typeface="Malgun Gothic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45766" y="315085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비가동 사유를 고르고 [비가동 시작]을 누릅니다.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4656582" y="508119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587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872483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작업실적 관리에서 작업지시를 조회해 실적을 등록합니다.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111745" y="244803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905184"/>
            <a:ext cx="3200400" cy="822960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86800" y="4905184"/>
            <a:ext cx="45720" cy="8229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87968" y="50332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이미 비가동 중이면 같은 버튼이 [가동 전환]으로 바뀝니다. 종료 시 사유 선택은 필수입니다.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659A-1B2D-3382-52C0-47D8DC17E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68E915-D0D4-680F-4354-695EE612C69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CDAE54-23CA-0119-8BCE-947486FBE57C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3A599F-929A-FAFF-EAB5-9649C00D9CD8}"/>
              </a:ext>
            </a:extLst>
          </p:cNvPr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FA1FA-D33D-F69F-4F67-C4356A08CCC7}"/>
              </a:ext>
            </a:extLst>
          </p:cNvPr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Malgun Gothic"/>
              </a:rPr>
              <a:t>OEE 관리  ›  설비 운영 및 실적관리(현장)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7F944B-8D8A-5095-673E-77C5AA8CC9F8}"/>
              </a:ext>
            </a:extLst>
          </p:cNvPr>
          <p:cNvSpPr txBox="1"/>
          <p:nvPr/>
        </p:nvSpPr>
        <p:spPr>
          <a:xfrm>
            <a:off x="502920" y="402336"/>
            <a:ext cx="82296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2000" b="1" dirty="0">
                <a:solidFill>
                  <a:srgbClr val="FFFFFF"/>
                </a:solidFill>
                <a:latin typeface="Malgun Gothic"/>
              </a:rPr>
              <a:t>향 후 일정 </a:t>
            </a:r>
            <a:endParaRPr sz="2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85657-0F7A-7425-7020-9C4DE875E493}"/>
              </a:ext>
            </a:extLst>
          </p:cNvPr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596272"/>
                </a:solidFill>
                <a:latin typeface="Malgun Gothic"/>
              </a:rPr>
              <a:t>20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B0513A-90AA-4B26-8907-E8FBE820F043}"/>
              </a:ext>
            </a:extLst>
          </p:cNvPr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50589620-2D81-BA8E-457C-FFC8E66C3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55981"/>
              </p:ext>
            </p:extLst>
          </p:nvPr>
        </p:nvGraphicFramePr>
        <p:xfrm>
          <a:off x="502920" y="1280160"/>
          <a:ext cx="11186160" cy="5236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6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99">
                  <a:extLst>
                    <a:ext uri="{9D8B030D-6E8A-4147-A177-3AD203B41FA5}">
                      <a16:colId xmlns:a16="http://schemas.microsoft.com/office/drawing/2014/main" val="1966148418"/>
                    </a:ext>
                  </a:extLst>
                </a:gridCol>
                <a:gridCol w="907305">
                  <a:extLst>
                    <a:ext uri="{9D8B030D-6E8A-4147-A177-3AD203B41FA5}">
                      <a16:colId xmlns:a16="http://schemas.microsoft.com/office/drawing/2014/main" val="1687489652"/>
                    </a:ext>
                  </a:extLst>
                </a:gridCol>
                <a:gridCol w="19939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861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6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603176"/>
                  </a:ext>
                </a:extLst>
              </a:tr>
              <a:tr h="781332">
                <a:tc>
                  <a:txBody>
                    <a:bodyPr/>
                    <a:lstStyle/>
                    <a:p>
                      <a:pPr marL="0" marR="0" indent="0" algn="ctr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기능개발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수불관리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외주 포함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원자재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반제품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1332">
                <a:tc>
                  <a:txBody>
                    <a:bodyPr/>
                    <a:lstStyle/>
                    <a:p>
                      <a:pPr marL="0" marR="0" indent="0" algn="ctr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기능개발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작업지시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실적관리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654799"/>
                  </a:ext>
                </a:extLst>
              </a:tr>
              <a:tr h="781332">
                <a:tc>
                  <a:txBody>
                    <a:bodyPr/>
                    <a:lstStyle/>
                    <a:p>
                      <a:pPr marL="0" marR="0" indent="0" algn="ctr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기능개발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재고관리 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재고 평가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마감 포함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032412"/>
                  </a:ext>
                </a:extLst>
              </a:tr>
              <a:tr h="781332">
                <a:tc>
                  <a:txBody>
                    <a:bodyPr/>
                    <a:lstStyle/>
                    <a:p>
                      <a:pPr marL="0" marR="0" indent="0" algn="ctr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요구사항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56139"/>
                  </a:ext>
                </a:extLst>
              </a:tr>
              <a:tr h="781332">
                <a:tc>
                  <a:txBody>
                    <a:bodyPr/>
                    <a:lstStyle/>
                    <a:p>
                      <a:pPr marL="0" marR="0" indent="0" algn="ctr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요구사항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208408"/>
                  </a:ext>
                </a:extLst>
              </a:tr>
              <a:tr h="781332">
                <a:tc>
                  <a:txBody>
                    <a:bodyPr/>
                    <a:lstStyle/>
                    <a:p>
                      <a:pPr marL="0" marR="0" indent="0" algn="ctr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요구사항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3144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003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30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2063</Words>
  <Application>Microsoft Macintosh PowerPoint</Application>
  <PresentationFormat>와이드스크린</PresentationFormat>
  <Paragraphs>492</Paragraphs>
  <Slides>24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하 병두</cp:lastModifiedBy>
  <cp:revision>5</cp:revision>
  <dcterms:created xsi:type="dcterms:W3CDTF">2013-01-27T09:14:16Z</dcterms:created>
  <dcterms:modified xsi:type="dcterms:W3CDTF">2026-09-11T01:07:00Z</dcterms:modified>
  <cp:category/>
</cp:coreProperties>
</file>