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311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3"/>
  </p:normalViewPr>
  <p:slideViewPr>
    <p:cSldViewPr snapToGrid="0" snapToObjects="1">
      <p:cViewPr varScale="1">
        <p:scale>
          <a:sx n="100" d="100"/>
          <a:sy n="100" d="100"/>
        </p:scale>
        <p:origin x="168" y="8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64A3EF-B1AC-D34F-AF1F-DFB80C501594}" type="datetimeFigureOut">
              <a:rPr kumimoji="1" lang="ko-KR" altLang="en-US" smtClean="0"/>
              <a:t>2026. 9. 14.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8F8F6B-C38F-D44A-A62C-72447DAD626B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2935102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698A35-460F-1F41-8133-DBC1320FA66E}" type="slidenum">
              <a:rPr kumimoji="1" lang="ko-KR" altLang="en-US" smtClean="0"/>
              <a:t>3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0872928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417320" cy="8229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" y="1874519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9AA3B2"/>
                </a:solidFill>
                <a:latin typeface="Malgun Gothic"/>
              </a:rPr>
              <a:t>EUNSUNG 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10896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algun Gothic"/>
              </a:rPr>
              <a:t>은성 전장 OEE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4224528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0">
                <a:solidFill>
                  <a:srgbClr val="C7CED8"/>
                </a:solidFill>
                <a:latin typeface="Malgun Gothic"/>
              </a:rPr>
              <a:t>사용자 매뉴얼 · 기준정보 / OEE 관리 (등록·수정 화면 포함)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7607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7A8392"/>
                </a:solidFill>
                <a:latin typeface="Malgun Gothic"/>
              </a:rPr>
              <a:t>2026-09-14 · 은성전장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algun Gothic"/>
              </a:rPr>
              <a:t>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E6007E"/>
                </a:solidFill>
                <a:latin typeface="Malgun Gothic"/>
              </a:rPr>
              <a:t>기준정보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539496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30352" y="1645920"/>
            <a:ext cx="411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1645920"/>
            <a:ext cx="3931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E3440"/>
                </a:solidFill>
                <a:latin typeface="Malgun Gothic"/>
              </a:rPr>
              <a:t>품목관리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645920"/>
            <a:ext cx="822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Malgun Gothic"/>
              </a:rPr>
              <a:t>3장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933956"/>
            <a:ext cx="411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Malgun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1933956"/>
            <a:ext cx="3931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E3440"/>
                </a:solidFill>
                <a:latin typeface="Malgun Gothic"/>
              </a:rPr>
              <a:t>BOM관리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933956"/>
            <a:ext cx="822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Malgun Gothic"/>
              </a:rPr>
              <a:t>2장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221992"/>
            <a:ext cx="411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Malgun Gothic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221992"/>
            <a:ext cx="3931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E3440"/>
                </a:solidFill>
                <a:latin typeface="Malgun Gothic"/>
              </a:rPr>
              <a:t>거래처관리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221992"/>
            <a:ext cx="822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Malgun Gothic"/>
              </a:rPr>
              <a:t>3장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2510028"/>
            <a:ext cx="411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Malgun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510028"/>
            <a:ext cx="3931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E3440"/>
                </a:solidFill>
                <a:latin typeface="Malgun Gothic"/>
              </a:rPr>
              <a:t>고객마스터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510028"/>
            <a:ext cx="822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Malgun Gothic"/>
              </a:rPr>
              <a:t>3장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2798064"/>
            <a:ext cx="411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Malgun Gothic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2798064"/>
            <a:ext cx="3931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E3440"/>
                </a:solidFill>
                <a:latin typeface="Malgun Gothic"/>
              </a:rPr>
              <a:t>설비마스터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798064"/>
            <a:ext cx="822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Malgun Gothic"/>
              </a:rPr>
              <a:t>3장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" y="3086100"/>
            <a:ext cx="411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Malgun Gothic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086100"/>
            <a:ext cx="3931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E3440"/>
                </a:solidFill>
                <a:latin typeface="Malgun Gothic"/>
              </a:rPr>
              <a:t>표준시간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086100"/>
            <a:ext cx="822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Malgun Gothic"/>
              </a:rPr>
              <a:t>3장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3374136"/>
            <a:ext cx="411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Malgun Gothic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3374136"/>
            <a:ext cx="3931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E3440"/>
                </a:solidFill>
                <a:latin typeface="Malgun Gothic"/>
              </a:rPr>
              <a:t>설비 비가동 사유코드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3374136"/>
            <a:ext cx="822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Malgun Gothic"/>
              </a:rPr>
              <a:t>3장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" y="3662172"/>
            <a:ext cx="411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Malgun Gothic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662172"/>
            <a:ext cx="3931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E3440"/>
                </a:solidFill>
                <a:latin typeface="Malgun Gothic"/>
              </a:rPr>
              <a:t>설비별 비가동 사유 연계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3662172"/>
            <a:ext cx="822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Malgun Gothic"/>
              </a:rPr>
              <a:t>3장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3950208"/>
            <a:ext cx="411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Malgun Gothic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" y="3950208"/>
            <a:ext cx="3931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E3440"/>
                </a:solidFill>
                <a:latin typeface="Malgun Gothic"/>
              </a:rPr>
              <a:t>공정관리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3950208"/>
            <a:ext cx="822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Malgun Gothic"/>
              </a:rPr>
              <a:t>4장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" y="4238244"/>
            <a:ext cx="411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Malgun Gothic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238244"/>
            <a:ext cx="3931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E3440"/>
                </a:solidFill>
                <a:latin typeface="Malgun Gothic"/>
              </a:rPr>
              <a:t>생산라인관리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4238244"/>
            <a:ext cx="822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Malgun Gothic"/>
              </a:rPr>
              <a:t>3장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" y="4526280"/>
            <a:ext cx="411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Malgun Gothic"/>
              </a:rPr>
              <a:t>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" y="4526280"/>
            <a:ext cx="3931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E3440"/>
                </a:solidFill>
                <a:latin typeface="Malgun Gothic"/>
              </a:rPr>
              <a:t>생산월력관리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0" y="4526280"/>
            <a:ext cx="822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Malgun Gothic"/>
              </a:rPr>
              <a:t>2장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0352" y="4814316"/>
            <a:ext cx="411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Malgun Gothic"/>
              </a:rPr>
              <a:t>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814316"/>
            <a:ext cx="3931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E3440"/>
                </a:solidFill>
                <a:latin typeface="Malgun Gothic"/>
              </a:rPr>
              <a:t>작업자관리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0" y="4814316"/>
            <a:ext cx="822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Malgun Gothic"/>
              </a:rPr>
              <a:t>3장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0352" y="5102352"/>
            <a:ext cx="411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Malgun Gothic"/>
              </a:rPr>
              <a:t>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4128" y="5102352"/>
            <a:ext cx="3931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E3440"/>
                </a:solidFill>
                <a:latin typeface="Malgun Gothic"/>
              </a:rPr>
              <a:t>구매단가관리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0" y="5102352"/>
            <a:ext cx="822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Malgun Gothic"/>
              </a:rPr>
              <a:t>3장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0352" y="5390388"/>
            <a:ext cx="411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Malgun Gothic"/>
              </a:rPr>
              <a:t>14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4128" y="5390388"/>
            <a:ext cx="3931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E3440"/>
                </a:solidFill>
                <a:latin typeface="Malgun Gothic"/>
              </a:rPr>
              <a:t>품목별 공급처 관리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0" y="5390388"/>
            <a:ext cx="822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Malgun Gothic"/>
              </a:rPr>
              <a:t>3장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0352" y="5678424"/>
            <a:ext cx="411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Malgun Gothic"/>
              </a:rPr>
              <a:t>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4128" y="5678424"/>
            <a:ext cx="3931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E3440"/>
                </a:solidFill>
                <a:latin typeface="Malgun Gothic"/>
              </a:rPr>
              <a:t>제품판매단가관리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0" y="5678424"/>
            <a:ext cx="822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Malgun Gothic"/>
              </a:rPr>
              <a:t>3장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11430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E6007E"/>
                </a:solidFill>
                <a:latin typeface="Malgun Gothic"/>
              </a:rPr>
              <a:t>OEE 관리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55080" y="1481328"/>
            <a:ext cx="539496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382512" y="1645920"/>
            <a:ext cx="411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Malgun Gothic"/>
              </a:rPr>
              <a:t>16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76288" y="1645920"/>
            <a:ext cx="3931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E3440"/>
                </a:solidFill>
                <a:latin typeface="Malgun Gothic"/>
              </a:rPr>
              <a:t>OEE 비가동 입력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81360" y="1645920"/>
            <a:ext cx="822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Malgun Gothic"/>
              </a:rPr>
              <a:t>1장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82512" y="1933956"/>
            <a:ext cx="411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Malgun Gothic"/>
              </a:rPr>
              <a:t>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76288" y="1933956"/>
            <a:ext cx="3931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E3440"/>
                </a:solidFill>
                <a:latin typeface="Malgun Gothic"/>
              </a:rPr>
              <a:t>OEE 종합 현황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81360" y="1933956"/>
            <a:ext cx="822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Malgun Gothic"/>
              </a:rPr>
              <a:t>1장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82512" y="2221992"/>
            <a:ext cx="411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Malgun Gothic"/>
              </a:rPr>
              <a:t>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76288" y="2221992"/>
            <a:ext cx="3931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E3440"/>
                </a:solidFill>
                <a:latin typeface="Malgun Gothic"/>
              </a:rPr>
              <a:t>설비별 작업 실적관리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60" y="2221992"/>
            <a:ext cx="822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Malgun Gothic"/>
              </a:rPr>
              <a:t>2장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82512" y="2510028"/>
            <a:ext cx="411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Malgun Gothic"/>
              </a:rPr>
              <a:t>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76288" y="2510028"/>
            <a:ext cx="3931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E3440"/>
                </a:solidFill>
                <a:latin typeface="Malgun Gothic"/>
              </a:rPr>
              <a:t>설비 운영 현황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81360" y="2510028"/>
            <a:ext cx="822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Malgun Gothic"/>
              </a:rPr>
              <a:t>2장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82512" y="2798064"/>
            <a:ext cx="411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Malgun Gothic"/>
              </a:rPr>
              <a:t>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76288" y="2798064"/>
            <a:ext cx="3931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2E3440"/>
                </a:solidFill>
                <a:latin typeface="Malgun Gothic"/>
              </a:rPr>
              <a:t>설비 운영 및 실적관리(현장)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881360" y="2798064"/>
            <a:ext cx="8229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Malgun Gothic"/>
              </a:rPr>
              <a:t>2장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02920" y="614476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Malgun Gothic"/>
              </a:rPr>
              <a:t>※ 제외: 기준정보의 라우팅관리 · 작업지도서관리 · 창고관리 · 라벨디자인관리, OEE 관리의 공정별 OEE 종합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184" y="280535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" dirty="0"/>
              <a:t>http://139.150.82.207:3100/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Malgun Gothic"/>
              </a:rPr>
              <a:t>시작  ›  로그인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algun Gothic"/>
              </a:rPr>
              <a:t>로그인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Malgun Gothic"/>
              </a:rPr>
              <a:t>00</a:t>
            </a:r>
          </a:p>
        </p:txBody>
      </p:sp>
      <p:pic>
        <p:nvPicPr>
          <p:cNvPr id="8" name="Picture 7" descr="00_로그인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Malgun Gothic"/>
              </a:rPr>
              <a:t>은성전장 MES 접속 · 사용자 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2430"/>
                </a:solidFill>
                <a:latin typeface="Malgun Gothic"/>
              </a:rPr>
              <a:t>작업 절차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아이디를 입력합니다. 사번이 아니라 MES 사용자 ID입니다 (예: ADMIN).</a:t>
            </a:r>
          </a:p>
        </p:txBody>
      </p:sp>
      <p:sp>
        <p:nvSpPr>
          <p:cNvPr id="15" name="Oval 14"/>
          <p:cNvSpPr/>
          <p:nvPr/>
        </p:nvSpPr>
        <p:spPr>
          <a:xfrm>
            <a:off x="6293357" y="301579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4003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414016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발급받은 비밀번호를 입력합니다.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6293357" y="3435215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2E3440"/>
                </a:solidFill>
                <a:latin typeface="Malgun Gothic"/>
              </a:rPr>
              <a:t>[로그인]을 누르면 인증 후 대시보드로 이동합니다.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293357" y="384440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0" y="4692241"/>
            <a:ext cx="3200400" cy="1103495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686800" y="4692242"/>
            <a:ext cx="45720" cy="108000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887968" y="4820258"/>
            <a:ext cx="2834640" cy="9292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dirty="0">
                <a:solidFill>
                  <a:srgbClr val="444C59"/>
                </a:solidFill>
                <a:latin typeface="Malgun Gothic"/>
              </a:rPr>
              <a:t>※ </a:t>
            </a:r>
            <a:r>
              <a:rPr sz="950" b="0" dirty="0" err="1">
                <a:solidFill>
                  <a:srgbClr val="444C59"/>
                </a:solidFill>
                <a:latin typeface="Malgun Gothic"/>
              </a:rPr>
              <a:t>회원가입은</a:t>
            </a:r>
            <a:r>
              <a:rPr sz="950" b="0" dirty="0">
                <a:solidFill>
                  <a:srgbClr val="444C59"/>
                </a:solidFill>
                <a:latin typeface="Malgun Gothic"/>
              </a:rPr>
              <a:t> </a:t>
            </a:r>
            <a:r>
              <a:rPr sz="950" b="0" dirty="0" err="1">
                <a:solidFill>
                  <a:srgbClr val="444C59"/>
                </a:solidFill>
                <a:latin typeface="Malgun Gothic"/>
              </a:rPr>
              <a:t>제공하지</a:t>
            </a:r>
            <a:r>
              <a:rPr sz="950" b="0" dirty="0">
                <a:solidFill>
                  <a:srgbClr val="444C59"/>
                </a:solidFill>
                <a:latin typeface="Malgun Gothic"/>
              </a:rPr>
              <a:t> </a:t>
            </a:r>
            <a:r>
              <a:rPr sz="950" b="0" dirty="0" err="1">
                <a:solidFill>
                  <a:srgbClr val="444C59"/>
                </a:solidFill>
                <a:latin typeface="Malgun Gothic"/>
              </a:rPr>
              <a:t>않습니다</a:t>
            </a:r>
            <a:r>
              <a:rPr sz="950" b="0" dirty="0">
                <a:solidFill>
                  <a:srgbClr val="444C59"/>
                </a:solidFill>
                <a:latin typeface="Malgun Gothic"/>
              </a:rPr>
              <a:t>. </a:t>
            </a:r>
            <a:r>
              <a:rPr sz="950" b="0" dirty="0" err="1">
                <a:solidFill>
                  <a:srgbClr val="444C59"/>
                </a:solidFill>
                <a:latin typeface="Malgun Gothic"/>
              </a:rPr>
              <a:t>계정</a:t>
            </a:r>
            <a:r>
              <a:rPr sz="950" b="0" dirty="0">
                <a:solidFill>
                  <a:srgbClr val="444C59"/>
                </a:solidFill>
                <a:latin typeface="Malgun Gothic"/>
              </a:rPr>
              <a:t> </a:t>
            </a:r>
            <a:r>
              <a:rPr sz="950" b="0" dirty="0" err="1">
                <a:solidFill>
                  <a:srgbClr val="444C59"/>
                </a:solidFill>
                <a:latin typeface="Malgun Gothic"/>
              </a:rPr>
              <a:t>발급은</a:t>
            </a:r>
            <a:r>
              <a:rPr sz="950" b="0" dirty="0">
                <a:solidFill>
                  <a:srgbClr val="444C59"/>
                </a:solidFill>
                <a:latin typeface="Malgun Gothic"/>
              </a:rPr>
              <a:t> </a:t>
            </a:r>
            <a:r>
              <a:rPr sz="950" b="0" dirty="0" err="1">
                <a:solidFill>
                  <a:srgbClr val="444C59"/>
                </a:solidFill>
                <a:latin typeface="Malgun Gothic"/>
              </a:rPr>
              <a:t>시스템관리</a:t>
            </a:r>
            <a:r>
              <a:rPr sz="950" b="0" dirty="0">
                <a:solidFill>
                  <a:srgbClr val="444C59"/>
                </a:solidFill>
                <a:latin typeface="Malgun Gothic"/>
              </a:rPr>
              <a:t> › </a:t>
            </a:r>
            <a:r>
              <a:rPr sz="950" b="0" dirty="0" err="1">
                <a:solidFill>
                  <a:srgbClr val="444C59"/>
                </a:solidFill>
                <a:latin typeface="Malgun Gothic"/>
              </a:rPr>
              <a:t>사용자관리에서</a:t>
            </a:r>
            <a:r>
              <a:rPr sz="950" b="0" dirty="0">
                <a:solidFill>
                  <a:srgbClr val="444C59"/>
                </a:solidFill>
                <a:latin typeface="Malgun Gothic"/>
              </a:rPr>
              <a:t> </a:t>
            </a:r>
            <a:r>
              <a:rPr sz="950" b="0" dirty="0" err="1">
                <a:solidFill>
                  <a:srgbClr val="444C59"/>
                </a:solidFill>
                <a:latin typeface="Malgun Gothic"/>
              </a:rPr>
              <a:t>합니다</a:t>
            </a:r>
            <a:r>
              <a:rPr sz="950" b="0" dirty="0">
                <a:solidFill>
                  <a:srgbClr val="444C59"/>
                </a:solidFill>
                <a:latin typeface="Malgun Gothic"/>
              </a:rPr>
              <a:t>.</a:t>
            </a:r>
            <a:endParaRPr lang="en-US" sz="950" b="0" dirty="0">
              <a:solidFill>
                <a:srgbClr val="444C59"/>
              </a:solidFill>
              <a:latin typeface="Malgun Gothic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endParaRPr lang="en-US" sz="950" dirty="0">
              <a:solidFill>
                <a:srgbClr val="444C59"/>
              </a:solidFill>
              <a:latin typeface="Malgun Gothic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lang="ko-KR" altLang="en-US" sz="950" b="0" dirty="0">
                <a:solidFill>
                  <a:srgbClr val="444C59"/>
                </a:solidFill>
                <a:latin typeface="Malgun Gothic"/>
              </a:rPr>
              <a:t>기존 </a:t>
            </a:r>
            <a:r>
              <a:rPr lang="en-US" altLang="ko-KR" sz="950" dirty="0">
                <a:solidFill>
                  <a:srgbClr val="444C59"/>
                </a:solidFill>
                <a:latin typeface="Malgun Gothic"/>
              </a:rPr>
              <a:t>MES</a:t>
            </a:r>
            <a:r>
              <a:rPr lang="ko-KR" altLang="en-US" sz="950" dirty="0">
                <a:solidFill>
                  <a:srgbClr val="444C59"/>
                </a:solidFill>
                <a:latin typeface="Malgun Gothic"/>
              </a:rPr>
              <a:t> 로그인 </a:t>
            </a:r>
            <a:r>
              <a:rPr lang="en-US" altLang="ko-KR" sz="950" dirty="0">
                <a:solidFill>
                  <a:srgbClr val="444C59"/>
                </a:solidFill>
                <a:latin typeface="Malgun Gothic"/>
              </a:rPr>
              <a:t>ID</a:t>
            </a:r>
            <a:r>
              <a:rPr lang="ko-KR" altLang="en-US" sz="950" dirty="0" err="1">
                <a:solidFill>
                  <a:srgbClr val="444C59"/>
                </a:solidFill>
                <a:latin typeface="Malgun Gothic"/>
              </a:rPr>
              <a:t>에</a:t>
            </a:r>
            <a:r>
              <a:rPr lang="ko-KR" altLang="en-US" sz="950" dirty="0">
                <a:solidFill>
                  <a:srgbClr val="444C59"/>
                </a:solidFill>
                <a:latin typeface="Malgun Gothic"/>
              </a:rPr>
              <a:t> 비밀번호는 </a:t>
            </a:r>
            <a:r>
              <a:rPr lang="en-US" altLang="ko-KR" sz="950" dirty="0">
                <a:solidFill>
                  <a:srgbClr val="444C59"/>
                </a:solidFill>
                <a:latin typeface="Malgun Gothic"/>
              </a:rPr>
              <a:t>‘1111’</a:t>
            </a:r>
            <a:r>
              <a:rPr lang="ko-KR" altLang="en-US" sz="950" dirty="0">
                <a:solidFill>
                  <a:srgbClr val="444C59"/>
                </a:solidFill>
                <a:latin typeface="Malgun Gothic"/>
              </a:rPr>
              <a:t>로 통일하였습니다</a:t>
            </a:r>
            <a:r>
              <a:rPr lang="en-US" altLang="ko-KR" sz="950" dirty="0">
                <a:solidFill>
                  <a:srgbClr val="444C59"/>
                </a:solidFill>
                <a:latin typeface="Malgun Gothic"/>
              </a:rPr>
              <a:t>.</a:t>
            </a:r>
            <a:endParaRPr sz="950" b="0" dirty="0">
              <a:solidFill>
                <a:srgbClr val="444C59"/>
              </a:solidFill>
              <a:latin typeface="Malgun Gothic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98B4EC0-462E-2EC9-2A06-CB92F0890401}"/>
              </a:ext>
            </a:extLst>
          </p:cNvPr>
          <p:cNvSpPr txBox="1"/>
          <p:nvPr/>
        </p:nvSpPr>
        <p:spPr>
          <a:xfrm>
            <a:off x="3246120" y="6106198"/>
            <a:ext cx="447468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sz="2000" dirty="0"/>
              <a:t>접속 주소 </a:t>
            </a:r>
            <a:r>
              <a:rPr kumimoji="1" lang="en-US" altLang="ko-KR" sz="2000" dirty="0"/>
              <a:t>-</a:t>
            </a:r>
            <a:r>
              <a:rPr kumimoji="1" lang="ko-KR" altLang="en-US" sz="2000" dirty="0"/>
              <a:t> </a:t>
            </a:r>
            <a:r>
              <a:rPr kumimoji="1" lang="en" altLang="ko-KR" sz="2000" dirty="0"/>
              <a:t>http://139.150.82.207:3100/</a:t>
            </a:r>
            <a:endParaRPr kumimoji="1" lang="ko-KR" altLang="en-US" sz="20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257A382-B1EE-C6BF-DB30-F8737A625D1E}"/>
              </a:ext>
            </a:extLst>
          </p:cNvPr>
          <p:cNvSpPr txBox="1"/>
          <p:nvPr/>
        </p:nvSpPr>
        <p:spPr>
          <a:xfrm>
            <a:off x="8476487" y="6147572"/>
            <a:ext cx="3298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sz="2000" dirty="0"/>
              <a:t>사용자 </a:t>
            </a:r>
            <a:r>
              <a:rPr kumimoji="1" lang="en-US" altLang="ko-KR" sz="2000" dirty="0"/>
              <a:t>ID : </a:t>
            </a:r>
            <a:r>
              <a:rPr kumimoji="1" lang="ko-KR" altLang="en-US" sz="2000" dirty="0"/>
              <a:t>기존 </a:t>
            </a:r>
            <a:r>
              <a:rPr kumimoji="1" lang="en-US" altLang="ko-KR" sz="2000" dirty="0"/>
              <a:t>MES </a:t>
            </a:r>
            <a:r>
              <a:rPr kumimoji="1" lang="ko-KR" altLang="en-US" sz="2000" dirty="0"/>
              <a:t>접속 </a:t>
            </a:r>
            <a:r>
              <a:rPr kumimoji="1" lang="en-US" altLang="ko-KR" sz="2000" dirty="0"/>
              <a:t>ID</a:t>
            </a:r>
          </a:p>
          <a:p>
            <a:r>
              <a:rPr kumimoji="1" lang="ko-KR" altLang="en-US" sz="2000" dirty="0"/>
              <a:t>비밀번호 </a:t>
            </a:r>
            <a:r>
              <a:rPr kumimoji="1" lang="en-US" altLang="ko-KR" sz="2000" dirty="0"/>
              <a:t>:</a:t>
            </a:r>
            <a:r>
              <a:rPr kumimoji="1" lang="ko-KR" altLang="en-US" sz="2000" dirty="0"/>
              <a:t> </a:t>
            </a:r>
            <a:r>
              <a:rPr kumimoji="1" lang="en-US" altLang="ko-KR" sz="2000" dirty="0"/>
              <a:t>1111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품목관리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품목관리 — 목록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01</a:t>
            </a:r>
          </a:p>
        </p:txBody>
      </p:sp>
      <p:pic>
        <p:nvPicPr>
          <p:cNvPr id="8" name="Picture 7" descr="01_품목관리_목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품목 정보를 등록하고 관리합니다. (2519건)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화면 제목 옆에서 전체 건수를 확인합니다.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529676" y="173913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검색어로 대상을 조회합니다.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1616630" y="222504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5283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5420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필터로 목록 범위를 좁힙니다.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503069" y="200559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8712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28849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우측 상단 등록 버튼으로 신규 등록 화면을 엽니다.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8047777" y="200559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4290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34427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행의 수정·삭제 아이콘으로 기존 자료를 편집합니다.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1621745" y="264447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859464"/>
            <a:ext cx="3200400" cy="104241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686800" y="4859464"/>
            <a:ext cx="45720" cy="104241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5188648"/>
            <a:ext cx="2834640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품목코드는 조직 단위로 유일해야 하며 등록 후 변경할 수 없습니다. 품목은 BOM·생산·재고의 공통 기준입니다.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품목관리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품목관리 — 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01</a:t>
            </a:r>
          </a:p>
        </p:txBody>
      </p:sp>
      <p:pic>
        <p:nvPicPr>
          <p:cNvPr id="8" name="Picture 7" descr="01_품목관리_등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품목 정보를 등록하고 관리합니다. (2519건)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목록에서 등록 버튼을 누르면 입력 화면이 열립니다.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6122287" y="147875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필수 항목(*) — 품목코드 · 품번 · 품목명 · 유형 · 품목분류</a:t>
            </a:r>
          </a:p>
        </p:txBody>
      </p:sp>
      <p:sp>
        <p:nvSpPr>
          <p:cNvPr id="18" name="Oval 17"/>
          <p:cNvSpPr/>
          <p:nvPr/>
        </p:nvSpPr>
        <p:spPr>
          <a:xfrm>
            <a:off x="6537595" y="2056742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95808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971800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항목 — 고객품번 · 리비전 · 마킹문구 · 차종 · 모델접미…</a:t>
            </a:r>
          </a:p>
        </p:txBody>
      </p:sp>
      <p:sp>
        <p:nvSpPr>
          <p:cNvPr id="21" name="Oval 20"/>
          <p:cNvSpPr/>
          <p:nvPr/>
        </p:nvSpPr>
        <p:spPr>
          <a:xfrm>
            <a:off x="6006922" y="337127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7307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74446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[저장]으로 반영합니다. 취소하면 입력값은 버려집니다.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8093212" y="147875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859464"/>
            <a:ext cx="3200400" cy="104241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686800" y="4859464"/>
            <a:ext cx="45720" cy="104241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7968" y="5188648"/>
            <a:ext cx="2834640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품목코드는 조직 단위로 유일해야 하며 등록 후 변경할 수 없습니다. 품목은 BOM·생산·재고의 공통 기준입니다.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품목관리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품목관리 — 수정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01</a:t>
            </a:r>
          </a:p>
        </p:txBody>
      </p:sp>
      <p:pic>
        <p:nvPicPr>
          <p:cNvPr id="8" name="Picture 7" descr="01_품목관리_수저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품목 정보를 등록하고 관리합니다. (2519건)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수정할 행을 선택하면 기존 값이 채워진 상태로 열립니다.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6122287" y="147875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필수 항목(*) — 품목코드 · 품번 · 품목명 · 유형 · 품목분류</a:t>
            </a:r>
          </a:p>
        </p:txBody>
      </p:sp>
      <p:sp>
        <p:nvSpPr>
          <p:cNvPr id="18" name="Oval 17"/>
          <p:cNvSpPr/>
          <p:nvPr/>
        </p:nvSpPr>
        <p:spPr>
          <a:xfrm>
            <a:off x="6537595" y="2056742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95808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971800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항목 — 고객품번 · 리비전 · 마킹문구 · 차종 · 모델접미…</a:t>
            </a:r>
          </a:p>
        </p:txBody>
      </p:sp>
      <p:sp>
        <p:nvSpPr>
          <p:cNvPr id="21" name="Oval 20"/>
          <p:cNvSpPr/>
          <p:nvPr/>
        </p:nvSpPr>
        <p:spPr>
          <a:xfrm>
            <a:off x="6006922" y="337127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7307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74446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[저장]으로 반영합니다. 취소하면 입력값은 버려집니다.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8093212" y="147875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428853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4302252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코드 등 키 항목은 수정할 수 없습니다. 잘못 등록했으면 삭제 후 다시 등록합니다.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7759543" y="147875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5189220"/>
            <a:ext cx="3200400" cy="104241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686800" y="5189220"/>
            <a:ext cx="45720" cy="104241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87968" y="5308092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5518404"/>
            <a:ext cx="2834640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품목코드는 조직 단위로 유일해야 하며 등록 후 변경할 수 없습니다. 품목은 BOM·생산·재고의 공통 기준입니다.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BOM관리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BOM관리 — 목록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02</a:t>
            </a:r>
          </a:p>
        </p:txBody>
      </p:sp>
      <p:pic>
        <p:nvPicPr>
          <p:cNvPr id="8" name="Picture 7" descr="02_BOM관리_목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제품/반제품 BOM 구조를 선택하고, 선택된 BOM 행 기준으로 라우팅과 투입자재를 관리합니다. (853건)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좌측에서 모품목(제품/반제품)을 검색해 선택합니다.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575711" y="2378497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우측에 자품목 구조가 Lv(레벨)별로 펼쳐집니다.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1580826" y="2844355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기준일을 바꾸면 그 시점에 유효한 BOM만 조회됩니다.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[BOM 추가]로 자품목을 등록합니다.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7963460" y="160662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적용일~완료일이 겹치면 어느 BOM이 유효한지 모호해집니다. 기준일을 바꿔 유효 구조를 확인한 뒤 등록하세요.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BOM관리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BOM관리 — 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02</a:t>
            </a:r>
          </a:p>
        </p:txBody>
      </p:sp>
      <p:pic>
        <p:nvPicPr>
          <p:cNvPr id="8" name="Picture 7" descr="02_BOM관리_등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제품/반제품 BOM 구조를 선택하고, 선택된 BOM 행 기준으로 라우팅과 투입자재를 관리합니다. (853건)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목록에서 등록 버튼을 누르면 입력 화면이 열립니다.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2848608" y="1869562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필수 항목(*) — 자품목코드 · 소요량 · 리비전 · 적용일 · 완료일</a:t>
            </a:r>
          </a:p>
        </p:txBody>
      </p:sp>
      <p:sp>
        <p:nvSpPr>
          <p:cNvPr id="18" name="Oval 17"/>
          <p:cNvSpPr/>
          <p:nvPr/>
        </p:nvSpPr>
        <p:spPr>
          <a:xfrm>
            <a:off x="2777718" y="2345250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95808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971800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항목 — 모품목 · 순서 · 공정코드 · 사이드 · 비고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51586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97696" y="3529584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[저장]으로 반영합니다. 취소하면 입력값은 버려집니다.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5453910" y="455026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적용일~완료일이 겹치면 어느 BOM이 유효한지 모호해집니다. 기준일을 바꿔 유효 구조를 확인한 뒤 등록하세요.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거래처관리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거래처관리 — 목록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03</a:t>
            </a:r>
          </a:p>
        </p:txBody>
      </p:sp>
      <p:pic>
        <p:nvPicPr>
          <p:cNvPr id="8" name="Picture 7" descr="03_거래처관리_목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공급상 및 고객 거래처 정보를 관리합니다. (53건)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화면 제목 옆에서 전체 건수를 확인합니다.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529676" y="173913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검색어로 대상을 조회합니다.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1616630" y="222504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5283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5420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필터로 목록 범위를 좁힙니다.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7341917" y="200559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8712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28849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우측 상단 등록 버튼으로 신규 등록 화면을 엽니다.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8047777" y="200559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4290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34427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행의 수정·삭제 아이콘으로 기존 자료를 편집합니다.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1621745" y="264447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거래처 유형(공급사/고객)에 따라 구매단가·판매단가에서 선택 가능한 목록이 달라집니다.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거래처관리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거래처관리 — 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03</a:t>
            </a:r>
          </a:p>
        </p:txBody>
      </p:sp>
      <p:pic>
        <p:nvPicPr>
          <p:cNvPr id="8" name="Picture 7" descr="03_거래처관리_등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공급상 및 고객 거래처 정보를 관리합니다. (53건)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목록에서 등록 버튼을 누르면 입력 화면이 열립니다.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6153257" y="147875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필수 항목(*) — 거래처코드 · 거래처 유형 · 거래처명</a:t>
            </a:r>
          </a:p>
        </p:txBody>
      </p:sp>
      <p:sp>
        <p:nvSpPr>
          <p:cNvPr id="18" name="Oval 17"/>
          <p:cNvSpPr/>
          <p:nvPr/>
        </p:nvSpPr>
        <p:spPr>
          <a:xfrm>
            <a:off x="6537595" y="2056742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항목 — 사업자번호 · 대표자 · 주소 · 전화번호 · 팩스번호…</a:t>
            </a:r>
          </a:p>
        </p:txBody>
      </p:sp>
      <p:sp>
        <p:nvSpPr>
          <p:cNvPr id="21" name="Oval 20"/>
          <p:cNvSpPr/>
          <p:nvPr/>
        </p:nvSpPr>
        <p:spPr>
          <a:xfrm>
            <a:off x="6006922" y="337127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51586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529584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[저장]으로 반영합니다. 취소하면 입력값은 버려집니다.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8093212" y="147875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거래처 유형(공급사/고객)에 따라 구매단가·판매단가에서 선택 가능한 목록이 달라집니다.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거래처관리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거래처관리 — 수정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03</a:t>
            </a:r>
          </a:p>
        </p:txBody>
      </p:sp>
      <p:pic>
        <p:nvPicPr>
          <p:cNvPr id="8" name="Picture 7" descr="03_거래처관리_수저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공급상 및 고객 거래처 정보를 관리합니다. (53건)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수정할 행을 선택하면 기존 값이 채워진 상태로 열립니다.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6153257" y="147875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필수 항목(*) — 거래처코드 · 거래처 유형 · 거래처명</a:t>
            </a:r>
          </a:p>
        </p:txBody>
      </p:sp>
      <p:sp>
        <p:nvSpPr>
          <p:cNvPr id="18" name="Oval 17"/>
          <p:cNvSpPr/>
          <p:nvPr/>
        </p:nvSpPr>
        <p:spPr>
          <a:xfrm>
            <a:off x="6537595" y="2056742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항목 — 사업자번호 · 대표자 · 주소 · 전화번호 · 팩스번호…</a:t>
            </a:r>
          </a:p>
        </p:txBody>
      </p:sp>
      <p:sp>
        <p:nvSpPr>
          <p:cNvPr id="21" name="Oval 20"/>
          <p:cNvSpPr/>
          <p:nvPr/>
        </p:nvSpPr>
        <p:spPr>
          <a:xfrm>
            <a:off x="6006922" y="337127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51586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529584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[저장]으로 반영합니다. 취소하면 입력값은 버려집니다.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8093212" y="147875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40736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4087368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코드 등 키 항목은 수정할 수 없습니다. 잘못 등록했으면 삭제 후 다시 등록합니다.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7759543" y="147875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974336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686800" y="4974336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87968" y="5093207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5303520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거래처 유형(공급사/고객)에 따라 구매단가·판매단가에서 선택 가능한 목록이 달라집니다.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고객마스터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고객마스터 — 목록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04</a:t>
            </a:r>
          </a:p>
        </p:txBody>
      </p:sp>
      <p:pic>
        <p:nvPicPr>
          <p:cNvPr id="8" name="Picture 7" descr="04_고객마스터_목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ICOM_CUSTOMER (18건)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화면 제목 옆에서 전체 건수를 확인합니다.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854754" y="173913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검색어로 대상을 조회합니다.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2128123" y="22045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5283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5420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필터로 목록 범위를 좁힙니다.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3232946" y="22045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8712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28849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우측 상단 등록 버튼으로 신규 등록 화면을 엽니다.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8068236" y="198513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4290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34427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행의 수정·삭제 아이콘으로 기존 자료를 편집합니다.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1601285" y="260355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고객은 제품판매단가의 적용 대상입니다. 거래상태를 중지로 바꾸면 신규 단가 등록 대상에서 빠집니다.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고객마스터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고객마스터 — 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04</a:t>
            </a:r>
          </a:p>
        </p:txBody>
      </p:sp>
      <p:pic>
        <p:nvPicPr>
          <p:cNvPr id="8" name="Picture 7" descr="04_고객마스터_등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ICOM_CUSTOMER (18건)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목록에서 등록 버튼을 누르면 입력 화면이 열립니다.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5602843" y="332780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필수 항목(*) — 고객코드 · 고객명 · 영문명 · 전화 · 주소</a:t>
            </a:r>
          </a:p>
        </p:txBody>
      </p:sp>
      <p:sp>
        <p:nvSpPr>
          <p:cNvPr id="18" name="Oval 17"/>
          <p:cNvSpPr/>
          <p:nvPr/>
        </p:nvSpPr>
        <p:spPr>
          <a:xfrm>
            <a:off x="6042726" y="194932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95808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971800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항목 — 대표자 · 거래상태 · 거래유형 · 지불유형 · 신용등급…</a:t>
            </a:r>
          </a:p>
        </p:txBody>
      </p:sp>
      <p:sp>
        <p:nvSpPr>
          <p:cNvPr id="21" name="Oval 20"/>
          <p:cNvSpPr/>
          <p:nvPr/>
        </p:nvSpPr>
        <p:spPr>
          <a:xfrm>
            <a:off x="5602843" y="332780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7307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74446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[저장]으로 반영합니다. 취소하면 입력값은 버려집니다.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고객은 제품판매단가의 적용 대상입니다. 거래상태를 중지로 바꾸면 신규 단가 등록 대상에서 빠집니다.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고객마스터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고객마스터 — 수정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04</a:t>
            </a:r>
          </a:p>
        </p:txBody>
      </p:sp>
      <p:pic>
        <p:nvPicPr>
          <p:cNvPr id="8" name="Picture 7" descr="04_고객마스터_수저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ICOM_CUSTOMER (18건)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수정할 행을 선택하면 기존 값이 채워진 상태로 열립니다.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5602843" y="332780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필수 항목(*) — 고객코드 · 고객명 · 영문명 · 전화 · 주소</a:t>
            </a:r>
          </a:p>
        </p:txBody>
      </p:sp>
      <p:sp>
        <p:nvSpPr>
          <p:cNvPr id="18" name="Oval 17"/>
          <p:cNvSpPr/>
          <p:nvPr/>
        </p:nvSpPr>
        <p:spPr>
          <a:xfrm>
            <a:off x="6042726" y="194932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95808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971800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항목 — 대표자 · 거래상태 · 거래유형 · 지불유형 · 신용등급…</a:t>
            </a:r>
          </a:p>
        </p:txBody>
      </p:sp>
      <p:sp>
        <p:nvSpPr>
          <p:cNvPr id="21" name="Oval 20"/>
          <p:cNvSpPr/>
          <p:nvPr/>
        </p:nvSpPr>
        <p:spPr>
          <a:xfrm>
            <a:off x="5602843" y="332780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7307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74446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[저장]으로 반영합니다. 취소하면 입력값은 버려집니다.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428853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7696" y="4302252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코드 등 키 항목은 수정할 수 없습니다. 잘못 등록했으면 삭제 후 다시 등록합니다.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5189220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686800" y="5189220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887968" y="5308092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87968" y="5518404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고객은 제품판매단가의 적용 대상입니다. 거래상태를 중지로 바꾸면 신규 단가 등록 대상에서 빠집니다.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설비마스터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설비마스터 — 목록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05</a:t>
            </a:r>
          </a:p>
        </p:txBody>
      </p:sp>
      <p:pic>
        <p:nvPicPr>
          <p:cNvPr id="8" name="Picture 7" descr="05_설비마스터_목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설비 정보를 등록하고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화면 제목 옆에서 전체 건수를 확인합니다.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939789" y="173913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검색어로 대상을 조회합니다.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1698469" y="230688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5283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5420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필터로 목록 범위를 좁힙니다.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4700058" y="2087432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8712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28849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우측 상단 등록 버튼으로 신규 등록 화면을 엽니다.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7932411" y="1540135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4290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34427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행의 수정·삭제 아이콘으로 기존 자료를 편집합니다.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1703584" y="2737820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적용공정을 반드시 지정하세요. 설비마스터가 OEE 비가동 처리와 설비 운영 현황의 기준이 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설비마스터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설비마스터 — 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05</a:t>
            </a:r>
          </a:p>
        </p:txBody>
      </p:sp>
      <p:pic>
        <p:nvPicPr>
          <p:cNvPr id="8" name="Picture 7" descr="05_설비마스터_등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설비 정보를 등록하고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목록에서 등록 버튼을 누르면 입력 화면이 열립니다.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6326884" y="147875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필수 항목(*) — 설비코드 · 설비명 · 유형</a:t>
            </a:r>
          </a:p>
        </p:txBody>
      </p:sp>
      <p:sp>
        <p:nvSpPr>
          <p:cNvPr id="18" name="Oval 17"/>
          <p:cNvSpPr/>
          <p:nvPr/>
        </p:nvSpPr>
        <p:spPr>
          <a:xfrm>
            <a:off x="6691043" y="2056742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항목 — 통신방식 · 적용공정 · 제조사 · 모델</a:t>
            </a:r>
          </a:p>
        </p:txBody>
      </p:sp>
      <p:sp>
        <p:nvSpPr>
          <p:cNvPr id="21" name="Oval 20"/>
          <p:cNvSpPr/>
          <p:nvPr/>
        </p:nvSpPr>
        <p:spPr>
          <a:xfrm>
            <a:off x="6211519" y="337127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[저장]으로 반영합니다. 취소하면 입력값은 버려집니다.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8093212" y="147875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적용공정을 반드시 지정하세요. 설비마스터가 OEE 비가동 처리와 설비 운영 현황의 기준이 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설비마스터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설비마스터 — 수정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05</a:t>
            </a:r>
          </a:p>
        </p:txBody>
      </p:sp>
      <p:pic>
        <p:nvPicPr>
          <p:cNvPr id="8" name="Picture 7" descr="05_설비마스터_수저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설비 정보를 등록하고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수정할 행을 선택하면 기존 값이 채워진 상태로 열립니다.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6326884" y="147875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필수 항목(*) — 설비코드 · 설비명 · 유형</a:t>
            </a:r>
          </a:p>
        </p:txBody>
      </p:sp>
      <p:sp>
        <p:nvSpPr>
          <p:cNvPr id="18" name="Oval 17"/>
          <p:cNvSpPr/>
          <p:nvPr/>
        </p:nvSpPr>
        <p:spPr>
          <a:xfrm>
            <a:off x="6691043" y="2056742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항목 — 통신방식 · 적용공정 · 제조사 · 모델</a:t>
            </a:r>
          </a:p>
        </p:txBody>
      </p:sp>
      <p:sp>
        <p:nvSpPr>
          <p:cNvPr id="21" name="Oval 20"/>
          <p:cNvSpPr/>
          <p:nvPr/>
        </p:nvSpPr>
        <p:spPr>
          <a:xfrm>
            <a:off x="6211519" y="337127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[저장]으로 반영합니다. 취소하면 입력값은 버려집니다.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8093212" y="147875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85876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3872483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코드 등 키 항목은 수정할 수 없습니다. 잘못 등록했으면 삭제 후 다시 등록합니다.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7759543" y="147875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적용공정을 반드시 지정하세요. 설비마스터가 OEE 비가동 처리와 설비 운영 현황의 기준이 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표준시간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표준시간 관리 — 목록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06</a:t>
            </a:r>
          </a:p>
        </p:txBody>
      </p:sp>
      <p:pic>
        <p:nvPicPr>
          <p:cNvPr id="8" name="Picture 7" descr="06_표준시간 관리_목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품목(모델) 기준 ST/CT/NT/TT 표준시간 · 적용기간 리비전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화면 제목 옆에서 전체 건수를 확인합니다.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529676" y="173913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검색어로 대상을 조회합니다.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1616630" y="22045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5283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5420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필터로 목록 범위를 좁힙니다.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7927576" y="5135927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8712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28849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우측 상단 등록 버튼으로 신규 등록 화면을 엽니다.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8047777" y="198513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4290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34427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행의 수정·삭제 아이콘으로 기존 자료를 편집합니다.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1621745" y="261378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CT(사이클타임)는 OEE 성능가동률 계산의 기준입니다. 설비·모델이 바뀌면 새 적용기간으로 등록하세요.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표준시간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표준시간 관리 — 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06</a:t>
            </a:r>
          </a:p>
        </p:txBody>
      </p:sp>
      <p:pic>
        <p:nvPicPr>
          <p:cNvPr id="8" name="Picture 7" descr="06_표준시간 관리_등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품목(모델) 기준 ST/CT/NT/TT 표준시간 · 적용기간 리비전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목록에서 등록 버튼을 누르면 입력 화면이 열립니다.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5877330" y="148387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필수 항목(*) — 모델코드 · 설비코드 · 적용 시작일</a:t>
            </a:r>
          </a:p>
        </p:txBody>
      </p:sp>
      <p:sp>
        <p:nvSpPr>
          <p:cNvPr id="18" name="Oval 17"/>
          <p:cNvSpPr/>
          <p:nvPr/>
        </p:nvSpPr>
        <p:spPr>
          <a:xfrm>
            <a:off x="6093875" y="194932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항목 — 모델명 · 설비명 · 적용 종료일 · ST — · CT —…</a:t>
            </a:r>
          </a:p>
        </p:txBody>
      </p:sp>
      <p:sp>
        <p:nvSpPr>
          <p:cNvPr id="21" name="Oval 20"/>
          <p:cNvSpPr/>
          <p:nvPr/>
        </p:nvSpPr>
        <p:spPr>
          <a:xfrm>
            <a:off x="5700026" y="337127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51586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529584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[저장]으로 반영합니다. 취소하면 입력값은 버려집니다.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8093212" y="148387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CT(사이클타임)는 OEE 성능가동률 계산의 기준입니다. 설비·모델이 바뀌면 새 적용기간으로 등록하세요.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표준시간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표준시간 관리 — 수정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06</a:t>
            </a:r>
          </a:p>
        </p:txBody>
      </p:sp>
      <p:pic>
        <p:nvPicPr>
          <p:cNvPr id="8" name="Picture 7" descr="06_표준시간 관리_수저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품목(모델) 기준 ST/CT/NT/TT 표준시간 · 적용기간 리비전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수정할 행을 선택하면 기존 값이 채워진 상태로 열립니다.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5877330" y="148387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필수 항목(*) — 모델코드 · 설비코드 · 적용 시작일</a:t>
            </a:r>
          </a:p>
        </p:txBody>
      </p:sp>
      <p:sp>
        <p:nvSpPr>
          <p:cNvPr id="18" name="Oval 17"/>
          <p:cNvSpPr/>
          <p:nvPr/>
        </p:nvSpPr>
        <p:spPr>
          <a:xfrm>
            <a:off x="6093875" y="194932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항목 — 모델명 · 설비명 · 적용 종료일 · ST — · CT —…</a:t>
            </a:r>
          </a:p>
        </p:txBody>
      </p:sp>
      <p:sp>
        <p:nvSpPr>
          <p:cNvPr id="21" name="Oval 20"/>
          <p:cNvSpPr/>
          <p:nvPr/>
        </p:nvSpPr>
        <p:spPr>
          <a:xfrm>
            <a:off x="5700026" y="337127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51586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529584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[저장]으로 반영합니다. 취소하면 입력값은 버려집니다.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8093212" y="148387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40736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4087368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코드 등 키 항목은 수정할 수 없습니다. 잘못 등록했으면 삭제 후 다시 등록합니다.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7780002" y="148387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974336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686800" y="4974336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87968" y="5093207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5303520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CT(사이클타임)는 OEE 성능가동률 계산의 기준입니다. 설비·모델이 바뀌면 새 적용기간으로 등록하세요.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설비 비가동 사유코드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설비 비가동 사유코드 — 목록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07</a:t>
            </a:r>
          </a:p>
        </p:txBody>
      </p:sp>
      <p:pic>
        <p:nvPicPr>
          <p:cNvPr id="8" name="Picture 7" descr="07_설비 비가동 사유코드_목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설비 비가동 사유코드 · 표준시간 · 분류별 매뉴얼(BFILE)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화면 제목 옆에서 전체 건수를 확인합니다.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529676" y="173913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검색어로 대상을 조회합니다.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1616630" y="22045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5283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5420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필터로 목록 범위를 좁힙니다.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7927576" y="5135927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8712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28849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우측 상단 등록 버튼으로 신규 등록 화면을 엽니다.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8047777" y="198513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4290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34427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행의 수정·삭제 아이콘으로 기존 자료를 편집합니다.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1621745" y="261378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859464"/>
            <a:ext cx="3200400" cy="104241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686800" y="4859464"/>
            <a:ext cx="45720" cy="104241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5188648"/>
            <a:ext cx="2834640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[OEE 반영]이 켜진 사유만 가동률 손실로 집계됩니다. 화면 표시 순서가 현장 화면의 사유 버튼 배열 순서입니다.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설비 비가동 사유코드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설비 비가동 사유코드 — 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07</a:t>
            </a:r>
          </a:p>
        </p:txBody>
      </p:sp>
      <p:pic>
        <p:nvPicPr>
          <p:cNvPr id="8" name="Picture 7" descr="07_설비 비가동 사유코드_등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설비 비가동 사유코드 · 표준시간 · 분류별 매뉴얼(BFILE)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목록에서 등록 버튼을 누르면 입력 화면이 열립니다.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6045803" y="148387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필수 항목(*) — 설비 비가동 사유코드 · 설비 비가동 사유명</a:t>
            </a:r>
          </a:p>
        </p:txBody>
      </p:sp>
      <p:sp>
        <p:nvSpPr>
          <p:cNvPr id="18" name="Oval 17"/>
          <p:cNvSpPr/>
          <p:nvPr/>
        </p:nvSpPr>
        <p:spPr>
          <a:xfrm>
            <a:off x="6093875" y="194932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항목 — 설비 비가동 사유 코드 설 · 비가동 사유 구분 · OEE 반영여부 · 화면 표시 순서 · 수치…</a:t>
            </a:r>
          </a:p>
        </p:txBody>
      </p:sp>
      <p:sp>
        <p:nvSpPr>
          <p:cNvPr id="21" name="Oval 20"/>
          <p:cNvSpPr/>
          <p:nvPr/>
        </p:nvSpPr>
        <p:spPr>
          <a:xfrm>
            <a:off x="5700026" y="337127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7307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74446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[저장]으로 반영합니다. 취소하면 입력값은 버려집니다.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8093212" y="148387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859464"/>
            <a:ext cx="3200400" cy="104241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686800" y="4859464"/>
            <a:ext cx="45720" cy="104241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7968" y="5188648"/>
            <a:ext cx="2834640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[OEE 반영]이 켜진 사유만 가동률 손실로 집계됩니다. 화면 표시 순서가 현장 화면의 사유 버튼 배열 순서입니다.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설비 비가동 사유코드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설비 비가동 사유코드 — 수정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07</a:t>
            </a:r>
          </a:p>
        </p:txBody>
      </p:sp>
      <p:pic>
        <p:nvPicPr>
          <p:cNvPr id="8" name="Picture 7" descr="07_설비 비가동 사유코드_수저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설비 비가동 사유코드 · 표준시간 · 분류별 매뉴얼(BFILE)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수정할 행을 선택하면 기존 값이 채워진 상태로 열립니다.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6045803" y="148387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필수 항목(*) — 설비 비가동 사유코드 · 설비 비가동 사유명</a:t>
            </a:r>
          </a:p>
        </p:txBody>
      </p:sp>
      <p:sp>
        <p:nvSpPr>
          <p:cNvPr id="18" name="Oval 17"/>
          <p:cNvSpPr/>
          <p:nvPr/>
        </p:nvSpPr>
        <p:spPr>
          <a:xfrm>
            <a:off x="6093875" y="194932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804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항목 — 설비 비가동 사유 코드 설 · 비가동 사유 구분 · OEE 반영여부 · 화면 표시 순서 · 수치…</a:t>
            </a:r>
          </a:p>
        </p:txBody>
      </p:sp>
      <p:sp>
        <p:nvSpPr>
          <p:cNvPr id="21" name="Oval 20"/>
          <p:cNvSpPr/>
          <p:nvPr/>
        </p:nvSpPr>
        <p:spPr>
          <a:xfrm>
            <a:off x="5700026" y="337127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7307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74446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[저장]으로 반영합니다. 취소하면 입력값은 버려집니다.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8093212" y="148387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428853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4302252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코드 등 키 항목은 수정할 수 없습니다. 잘못 등록했으면 삭제 후 다시 등록합니다.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7780002" y="148387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5189220"/>
            <a:ext cx="3200400" cy="104241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686800" y="5189220"/>
            <a:ext cx="45720" cy="104241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87968" y="5308092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5518404"/>
            <a:ext cx="2834640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[OEE 반영]이 켜진 사유만 가동률 손실로 집계됩니다. 화면 표시 순서가 현장 화면의 사유 버튼 배열 순서입니다.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설비별 비가동 사유 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설비별 비가동 사유 연계 — 목록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08</a:t>
            </a:r>
          </a:p>
        </p:txBody>
      </p:sp>
      <p:pic>
        <p:nvPicPr>
          <p:cNvPr id="8" name="Picture 7" descr="08_설비별 비가동 사유 연계_목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설비마스터 × 비가동사유코드 매핑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화면 제목 옆에서 전체 건수를 확인합니다.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951578" y="173913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검색어로 대상을 조회합니다.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1616630" y="22045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5283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5420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필터로 목록 범위를 좁힙니다.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7927576" y="5135927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8712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28849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우측 상단 등록 버튼으로 신규 등록 화면을 엽니다.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8047777" y="198513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4290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34427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행의 수정·삭제 아이콘으로 기존 자료를 편집합니다.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1621745" y="261378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연계된 사유가 있는 설비는 현장 화면에서 그 사유만 보입니다. 연계가 없으면 전체 사유가 표시됩니다.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설비별 비가동 사유 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설비별 비가동 사유 연계 — 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08</a:t>
            </a:r>
          </a:p>
        </p:txBody>
      </p:sp>
      <p:pic>
        <p:nvPicPr>
          <p:cNvPr id="8" name="Picture 7" descr="08_설비별 비가동 사유 연계_등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설비마스터 × 비가동사유코드 매핑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목록에서 등록 버튼을 누르면 입력 화면이 열립니다.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5981267" y="148387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입력 항목을 채웁니다.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6019829" y="211300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5283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542032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항목 — 설비코드설비선택 · 설비명 · 설비유형 / 라인 · 공정</a:t>
            </a:r>
          </a:p>
        </p:txBody>
      </p:sp>
      <p:sp>
        <p:nvSpPr>
          <p:cNvPr id="21" name="Oval 20"/>
          <p:cNvSpPr/>
          <p:nvPr/>
        </p:nvSpPr>
        <p:spPr>
          <a:xfrm>
            <a:off x="5597728" y="337127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[저장]으로 반영합니다. 취소하면 입력값은 버려집니다.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8093212" y="148387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연계된 사유가 있는 설비는 현장 화면에서 그 사유만 보입니다. 연계가 없으면 전체 사유가 표시됩니다.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설비별 비가동 사유 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설비별 비가동 사유 연계 — 수정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08</a:t>
            </a:r>
          </a:p>
        </p:txBody>
      </p:sp>
      <p:pic>
        <p:nvPicPr>
          <p:cNvPr id="8" name="Picture 7" descr="08_설비별 비가동 사유 연계_수저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설비마스터 × 비가동사유코드 매핑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수정할 행을 선택하면 기존 값이 채워진 상태로 열립니다.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5981267" y="148387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입력 항목을 채웁니다.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6230700" y="211300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5283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5420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항목 — 설비코드 · 설비명 · 설비유형 / 라인 · 공정</a:t>
            </a:r>
          </a:p>
        </p:txBody>
      </p:sp>
      <p:sp>
        <p:nvSpPr>
          <p:cNvPr id="21" name="Oval 20"/>
          <p:cNvSpPr/>
          <p:nvPr/>
        </p:nvSpPr>
        <p:spPr>
          <a:xfrm>
            <a:off x="5597728" y="337127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0861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0998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[저장]으로 반영합니다. 취소하면 입력값은 버려집니다.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8093212" y="148387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64388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3657600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코드 등 키 항목은 수정할 수 없습니다. 잘못 등록했으면 삭제 후 다시 등록합니다.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7780002" y="148387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연계된 사유가 있는 설비는 현장 화면에서 그 사유만 보입니다. 연계가 없으면 전체 사유가 표시됩니다.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공정관리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공정관리 — 목록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09</a:t>
            </a:r>
          </a:p>
        </p:txBody>
      </p:sp>
      <p:pic>
        <p:nvPicPr>
          <p:cNvPr id="8" name="Picture 7" descr="09_공정관리_목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공정 정보를 등록하고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화면 제목 옆에서 전체 건수를 확인합니다.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939789" y="173913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검색어로 대상을 조회합니다.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5283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97696" y="25420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필터로 목록 범위를 좁힙니다.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7927576" y="355725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28712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97696" y="28849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우측 상단 등록 버튼으로 신규 등록 화면을 엽니다.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8047777" y="197490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4290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7696" y="34427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행의 수정·삭제 아이콘으로 기존 자료를 편집합니다.</a:t>
            </a:r>
          </a:p>
        </p:txBody>
      </p:sp>
      <p:sp>
        <p:nvSpPr>
          <p:cNvPr id="26" name="Oval 25"/>
          <p:cNvSpPr/>
          <p:nvPr/>
        </p:nvSpPr>
        <p:spPr>
          <a:xfrm>
            <a:off x="1621745" y="258820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공정은 라우팅·생산실적·공정 CAPA의 기준입니다. 시작공정과 정렬순서로 공정 흐름을 정의합니다.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공정관리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공정관리 — 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09</a:t>
            </a:r>
          </a:p>
        </p:txBody>
      </p:sp>
      <p:pic>
        <p:nvPicPr>
          <p:cNvPr id="8" name="Picture 7" descr="09_공정관리_등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공정 정보를 등록하고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목록에서 등록 버튼을 누르면 입력 화면이 열립니다.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5794932" y="19697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필수 항목(*) — 공정코드 · 공정유형 · 공정명 · 정렬순서</a:t>
            </a:r>
          </a:p>
        </p:txBody>
      </p:sp>
      <p:sp>
        <p:nvSpPr>
          <p:cNvPr id="18" name="Oval 17"/>
          <p:cNvSpPr/>
          <p:nvPr/>
        </p:nvSpPr>
        <p:spPr>
          <a:xfrm>
            <a:off x="6261389" y="261426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항목 — 시작공정 · 공정그룹 · 공정상태 · 부서 · 교대…</a:t>
            </a:r>
          </a:p>
        </p:txBody>
      </p:sp>
      <p:sp>
        <p:nvSpPr>
          <p:cNvPr id="21" name="Oval 20"/>
          <p:cNvSpPr/>
          <p:nvPr/>
        </p:nvSpPr>
        <p:spPr>
          <a:xfrm>
            <a:off x="5679567" y="3555415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51586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529584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[저장]으로 반영합니다. 취소하면 입력값은 버려집니다.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7970453" y="19697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공정은 라우팅·생산실적·공정 CAPA의 기준입니다. 시작공정과 정렬순서로 공정 흐름을 정의합니다.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공정관리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공정관리 — 수정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09</a:t>
            </a:r>
          </a:p>
        </p:txBody>
      </p:sp>
      <p:pic>
        <p:nvPicPr>
          <p:cNvPr id="8" name="Picture 7" descr="09_공정관리_수저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공정 정보를 등록하고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수정할 행을 선택하면 기존 값이 채워진 상태로 열립니다.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5794932" y="19697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필수 항목(*) — 공정코드 · 공정유형 · 공정명 · 정렬순서</a:t>
            </a:r>
          </a:p>
        </p:txBody>
      </p:sp>
      <p:sp>
        <p:nvSpPr>
          <p:cNvPr id="18" name="Oval 17"/>
          <p:cNvSpPr/>
          <p:nvPr/>
        </p:nvSpPr>
        <p:spPr>
          <a:xfrm>
            <a:off x="6261389" y="261426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항목 — 시작공정 · 공정그룹 · 공정상태 · 부서 · 교대…</a:t>
            </a:r>
          </a:p>
        </p:txBody>
      </p:sp>
      <p:sp>
        <p:nvSpPr>
          <p:cNvPr id="21" name="Oval 20"/>
          <p:cNvSpPr/>
          <p:nvPr/>
        </p:nvSpPr>
        <p:spPr>
          <a:xfrm>
            <a:off x="5679567" y="3555415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51586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529584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[저장]으로 반영합니다. 취소하면 입력값은 버려집니다.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7970453" y="19697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40736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4087368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코드 등 키 항목은 수정할 수 없습니다. 잘못 등록했으면 삭제 후 다시 등록합니다.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7636785" y="19697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974336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686800" y="4974336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87968" y="5093207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5303520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공정은 라우팅·생산실적·공정 CAPA의 기준입니다. 시작공정과 정렬순서로 공정 흐름을 정의합니다.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공정관리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공정관리 — 설비배치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09</a:t>
            </a:r>
          </a:p>
        </p:txBody>
      </p:sp>
      <p:pic>
        <p:nvPicPr>
          <p:cNvPr id="8" name="Picture 7" descr="09_공정관리_설비배ᄎ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공정 정보를 등록하고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공정을 선택한 뒤 [설비 배치]를 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2986911" y="248335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배치할 설비와 라인코드를 고릅니다.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2941396" y="314317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저장하면 그 공정에서 가동할 설비로 등록됩니다.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공정은 라우팅·생산실적·공정 CAPA의 기준입니다. 시작공정과 정렬순서로 공정 흐름을 정의합니다.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생산라인관리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생산라인관리 — 목록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10</a:t>
            </a:r>
          </a:p>
        </p:txBody>
      </p:sp>
      <p:pic>
        <p:nvPicPr>
          <p:cNvPr id="8" name="Picture 7" descr="10_생산라인관리_목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생산라인 정보를 등록하고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화면 제목 옆에서 전체 건수를 확인합니다.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2010599" y="173913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검색어로 대상을 조회합니다.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1698469" y="230688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5283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5420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필터로 목록 범위를 좁힙니다.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7845737" y="505408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8712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28849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우측 상단 등록 버튼으로 신규 등록 화면을 엽니다.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7932411" y="159128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4290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34427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행의 수정·삭제 아이콘으로 기존 자료를 편집합니다.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1703584" y="2716082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859464"/>
            <a:ext cx="3200400" cy="104241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686800" y="4859464"/>
            <a:ext cx="45720" cy="104241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5188648"/>
            <a:ext cx="2834640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OEE 라인 속성(OEE유형·상위라인코드)을 이 화면에서 통합 관리합니다. 집계 단위가 바뀌므로 신중히 설정하세요.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생산라인관리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생산라인관리 — 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10</a:t>
            </a:r>
          </a:p>
        </p:txBody>
      </p:sp>
      <p:pic>
        <p:nvPicPr>
          <p:cNvPr id="8" name="Picture 7" descr="10_생산라인관리_등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생산라인 정보를 등록하고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목록에서 등록 버튼을 누르면 입력 화면이 열립니다.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6204126" y="19697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필수 항목(*) — 라인코드 · 라인명 · 라인구분</a:t>
            </a:r>
          </a:p>
        </p:txBody>
      </p:sp>
      <p:sp>
        <p:nvSpPr>
          <p:cNvPr id="18" name="Oval 17"/>
          <p:cNvSpPr/>
          <p:nvPr/>
        </p:nvSpPr>
        <p:spPr>
          <a:xfrm>
            <a:off x="6568285" y="2425017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항목 — 라인그룹 · 제품구분 · 라인상태 · 작업장 · OEE유형…</a:t>
            </a:r>
          </a:p>
        </p:txBody>
      </p:sp>
      <p:sp>
        <p:nvSpPr>
          <p:cNvPr id="21" name="Oval 20"/>
          <p:cNvSpPr/>
          <p:nvPr/>
        </p:nvSpPr>
        <p:spPr>
          <a:xfrm>
            <a:off x="6088761" y="3555415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51586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529584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[저장]으로 반영합니다. 취소하면 입력값은 버려집니다.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7970453" y="19697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859464"/>
            <a:ext cx="3200400" cy="104241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686800" y="4859464"/>
            <a:ext cx="45720" cy="104241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7968" y="5188648"/>
            <a:ext cx="2834640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OEE 라인 속성(OEE유형·상위라인코드)을 이 화면에서 통합 관리합니다. 집계 단위가 바뀌므로 신중히 설정하세요.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생산라인관리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생산라인관리 — 수정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10</a:t>
            </a:r>
          </a:p>
        </p:txBody>
      </p:sp>
      <p:pic>
        <p:nvPicPr>
          <p:cNvPr id="8" name="Picture 7" descr="10_생산라인관리_수저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생산라인 정보를 등록하고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수정할 행을 선택하면 기존 값이 채워진 상태로 열립니다.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6204126" y="19697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필수 항목(*) — 라인코드 · 라인명 · 라인구분</a:t>
            </a:r>
          </a:p>
        </p:txBody>
      </p:sp>
      <p:sp>
        <p:nvSpPr>
          <p:cNvPr id="18" name="Oval 17"/>
          <p:cNvSpPr/>
          <p:nvPr/>
        </p:nvSpPr>
        <p:spPr>
          <a:xfrm>
            <a:off x="6568285" y="2425017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항목 — 라인그룹 · 제품구분 · 라인상태 · 작업장 · OEE유형…</a:t>
            </a:r>
          </a:p>
        </p:txBody>
      </p:sp>
      <p:sp>
        <p:nvSpPr>
          <p:cNvPr id="21" name="Oval 20"/>
          <p:cNvSpPr/>
          <p:nvPr/>
        </p:nvSpPr>
        <p:spPr>
          <a:xfrm>
            <a:off x="6088761" y="3555415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51586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529584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[저장]으로 반영합니다. 취소하면 입력값은 버려집니다.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7970453" y="19697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40736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4087368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코드 등 키 항목은 수정할 수 없습니다. 잘못 등록했으면 삭제 후 다시 등록합니다.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7636785" y="19697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974336"/>
            <a:ext cx="3200400" cy="104241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686800" y="4974336"/>
            <a:ext cx="45720" cy="104241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87968" y="5093207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5303520"/>
            <a:ext cx="2834640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OEE 라인 속성(OEE유형·상위라인코드)을 이 화면에서 통합 관리합니다. 집계 단위가 바뀌므로 신중히 설정하세요.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생산월력관리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생산월력관리 — 목록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11</a:t>
            </a:r>
          </a:p>
        </p:txBody>
      </p:sp>
      <p:pic>
        <p:nvPicPr>
          <p:cNvPr id="8" name="Picture 7" descr="11_생산월력관리_목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전사 근무일과 라인별 예외, 2교대 근무시간을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[월력] · [교대시간] 탭으로 관리 대상을 전환합니다.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529676" y="173913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좌측에서 설비 또는 라인을 고르고 대상을 선택합니다.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2460753" y="242964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달력의 날짜를 클릭해 근무유형 · 근무시간을 편집합니다.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97696" y="3314700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[연간 생성] · [확정] · [확정취소]로 연 단위 일정을 확정합니다.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8001143" y="159128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확정된 일자는 잠겨 편집·연간생성·복사가 모두 막힙니다. 다시 편집하려면 먼저 확정취소해야 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생산월력관리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생산월력관리 — 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11</a:t>
            </a:r>
          </a:p>
        </p:txBody>
      </p:sp>
      <p:pic>
        <p:nvPicPr>
          <p:cNvPr id="8" name="Picture 7" descr="11_생산월력관리_등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전사 근무일과 라인별 예외, 2교대 근무시간을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목록에서 등록 버튼을 누르면 입력 화면이 열립니다.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2986911" y="2705852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입력 항목을 채웁니다.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3158780" y="346797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5283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5420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항목 — 토요일 근무 · 일요일 근무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0861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97696" y="30998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[저장]으로 반영합니다. 취소하면 입력값은 버려집니다.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5290233" y="371397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확정된 일자는 잠겨 편집·연간생성·복사가 모두 막힙니다. 다시 편집하려면 먼저 확정취소해야 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작업자관리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작업자관리 — 목록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12</a:t>
            </a:r>
          </a:p>
        </p:txBody>
      </p:sp>
      <p:pic>
        <p:nvPicPr>
          <p:cNvPr id="8" name="Picture 7" descr="12_작업자관리_목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작업자 정보를 등록하고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화면 제목 옆에서 전체 건수를 확인합니다.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975194" y="173913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검색어로 대상을 조회합니다.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2025824" y="222504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5283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5420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필터로 목록 범위를 좁힙니다.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2885132" y="222504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8712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28849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우측 상단 등록 버튼으로 신규 등록 화면을 엽니다.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8047777" y="200559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4290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34427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행의 수정·삭제 아이콘으로 기존 자료를 편집합니다.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1621745" y="268411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여기 등록한 작업자가 현장 화면의 작업자 선택 목록이 됩니다. 미등록이면 실적에 작업자가 남지 않습니다.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작업자관리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작업자관리 — 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12</a:t>
            </a:r>
          </a:p>
        </p:txBody>
      </p:sp>
      <p:pic>
        <p:nvPicPr>
          <p:cNvPr id="8" name="Picture 7" descr="12_작업자관리_등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작업자 정보를 등록하고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목록에서 등록 버튼을 누르면 입력 화면이 열립니다.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6153257" y="147875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필수 항목(*) — 사번 · 이름</a:t>
            </a:r>
          </a:p>
        </p:txBody>
      </p:sp>
      <p:sp>
        <p:nvSpPr>
          <p:cNvPr id="18" name="Oval 17"/>
          <p:cNvSpPr/>
          <p:nvPr/>
        </p:nvSpPr>
        <p:spPr>
          <a:xfrm>
            <a:off x="6537595" y="282733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5283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5420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항목 — 영문명 · 부서 · 직급 · 전화번호 · 이메일…</a:t>
            </a:r>
          </a:p>
        </p:txBody>
      </p:sp>
      <p:sp>
        <p:nvSpPr>
          <p:cNvPr id="21" name="Oval 20"/>
          <p:cNvSpPr/>
          <p:nvPr/>
        </p:nvSpPr>
        <p:spPr>
          <a:xfrm>
            <a:off x="6006922" y="337127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0861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0998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[저장]으로 반영합니다. 취소하면 입력값은 버려집니다.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8093212" y="147875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여기 등록한 작업자가 현장 화면의 작업자 선택 목록이 됩니다. 미등록이면 실적에 작업자가 남지 않습니다.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작업자관리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작업자관리 — 수정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12</a:t>
            </a:r>
          </a:p>
        </p:txBody>
      </p:sp>
      <p:pic>
        <p:nvPicPr>
          <p:cNvPr id="8" name="Picture 7" descr="12_작업자관리_수저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작업자 정보를 등록하고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수정할 행을 선택하면 기존 값이 채워진 상태로 열립니다.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6153257" y="147875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필수 항목(*) — 사번 · 이름</a:t>
            </a:r>
          </a:p>
        </p:txBody>
      </p:sp>
      <p:sp>
        <p:nvSpPr>
          <p:cNvPr id="18" name="Oval 17"/>
          <p:cNvSpPr/>
          <p:nvPr/>
        </p:nvSpPr>
        <p:spPr>
          <a:xfrm>
            <a:off x="6537595" y="282733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5283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5420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항목 — 영문명 · 부서 · 직급 · 전화번호 · 이메일…</a:t>
            </a:r>
          </a:p>
        </p:txBody>
      </p:sp>
      <p:sp>
        <p:nvSpPr>
          <p:cNvPr id="21" name="Oval 20"/>
          <p:cNvSpPr/>
          <p:nvPr/>
        </p:nvSpPr>
        <p:spPr>
          <a:xfrm>
            <a:off x="6006922" y="337127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0861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0998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[저장]으로 반영합니다. 취소하면 입력값은 버려집니다.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8093212" y="147875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64388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3657600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코드 등 키 항목은 수정할 수 없습니다. 잘못 등록했으면 삭제 후 다시 등록합니다.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7759543" y="147875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여기 등록한 작업자가 현장 화면의 작업자 선택 목록이 됩니다. 미등록이면 실적에 작업자가 남지 않습니다.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구매단가관리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구매단가관리 — 목록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13</a:t>
            </a:r>
          </a:p>
        </p:txBody>
      </p:sp>
      <p:pic>
        <p:nvPicPr>
          <p:cNvPr id="8" name="Picture 7" descr="13_구매단가관리_목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품목·공급사별 적용 기간과 구매단가를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화면 제목 옆에서 전체 건수를 확인합니다.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509217" y="171867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검색어로 대상을 조회합니다.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5283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97696" y="25420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필터로 목록 범위를 좁힙니다.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3908117" y="2143210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28712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97696" y="28849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우측 상단 등록 버튼으로 신규 등록 화면을 엽니다.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8088696" y="192375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4290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7696" y="34427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행의 수정·삭제 아이콘으로 기존 자료를 편집합니다.</a:t>
            </a:r>
          </a:p>
        </p:txBody>
      </p:sp>
      <p:sp>
        <p:nvSpPr>
          <p:cNvPr id="26" name="Oval 25"/>
          <p:cNvSpPr/>
          <p:nvPr/>
        </p:nvSpPr>
        <p:spPr>
          <a:xfrm>
            <a:off x="1580826" y="254217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0" y="4859464"/>
            <a:ext cx="3200400" cy="104241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686800" y="4859464"/>
            <a:ext cx="45720" cy="104241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87968" y="5188648"/>
            <a:ext cx="2834640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같은 품목×공급사에서 기간이 겹치면 적용 단가가 모호해집니다. 기존 단가의 종료일을 닫고 새 단가를 등록하세요.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구매단가관리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구매단가관리 — 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13</a:t>
            </a:r>
          </a:p>
        </p:txBody>
      </p:sp>
      <p:pic>
        <p:nvPicPr>
          <p:cNvPr id="8" name="Picture 7" descr="13_구매단가관리_등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품목·공급사별 적용 기간과 구매단가를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목록에서 등록 버튼을 누르면 입력 화면이 열립니다.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5807440" y="332780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필수 항목(*) — 품목 · 공급사 · 구입유형 · 단가형태 · 시작일…</a:t>
            </a:r>
          </a:p>
        </p:txBody>
      </p:sp>
      <p:sp>
        <p:nvSpPr>
          <p:cNvPr id="18" name="Oval 17"/>
          <p:cNvSpPr/>
          <p:nvPr/>
        </p:nvSpPr>
        <p:spPr>
          <a:xfrm>
            <a:off x="5909738" y="194932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95808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971800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항목 — 기준단가 · 세율(%)</a:t>
            </a:r>
          </a:p>
        </p:txBody>
      </p:sp>
      <p:sp>
        <p:nvSpPr>
          <p:cNvPr id="21" name="Oval 20"/>
          <p:cNvSpPr/>
          <p:nvPr/>
        </p:nvSpPr>
        <p:spPr>
          <a:xfrm>
            <a:off x="5807440" y="332780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51586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529584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[저장]으로 반영합니다. 취소하면 입력값은 버려집니다.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4859464"/>
            <a:ext cx="3200400" cy="104241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686800" y="4859464"/>
            <a:ext cx="45720" cy="104241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87968" y="5188648"/>
            <a:ext cx="2834640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같은 품목×공급사에서 기간이 겹치면 적용 단가가 모호해집니다. 기존 단가의 종료일을 닫고 새 단가를 등록하세요.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구매단가관리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구매단가관리 — 수정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13</a:t>
            </a:r>
          </a:p>
        </p:txBody>
      </p:sp>
      <p:pic>
        <p:nvPicPr>
          <p:cNvPr id="8" name="Picture 7" descr="13_구매단가관리_수저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품목·공급사별 적용 기간과 구매단가를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수정할 행을 선택하면 기존 값이 채워진 상태로 열립니다.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5807440" y="332780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필수 항목(*) — 품목 · 공급사 · 구입유형 · 단가형태 · 시작일…</a:t>
            </a:r>
          </a:p>
        </p:txBody>
      </p:sp>
      <p:sp>
        <p:nvSpPr>
          <p:cNvPr id="18" name="Oval 17"/>
          <p:cNvSpPr/>
          <p:nvPr/>
        </p:nvSpPr>
        <p:spPr>
          <a:xfrm>
            <a:off x="5909738" y="194932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95808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971800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항목 — 기준단가 · 세율(%) · 승인여부 · 승인번호 · 승인자…</a:t>
            </a:r>
          </a:p>
        </p:txBody>
      </p:sp>
      <p:sp>
        <p:nvSpPr>
          <p:cNvPr id="21" name="Oval 20"/>
          <p:cNvSpPr/>
          <p:nvPr/>
        </p:nvSpPr>
        <p:spPr>
          <a:xfrm>
            <a:off x="5807440" y="332780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7307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74446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[저장]으로 반영합니다. 취소하면 입력값은 버려집니다.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428853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7696" y="4302252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코드 등 키 항목은 수정할 수 없습니다. 잘못 등록했으면 삭제 후 다시 등록합니다.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5189220"/>
            <a:ext cx="3200400" cy="104241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686800" y="5189220"/>
            <a:ext cx="45720" cy="104241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887968" y="5308092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87968" y="5518404"/>
            <a:ext cx="2834640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같은 품목×공급사에서 기간이 겹치면 적용 단가가 모호해집니다. 기존 단가의 종료일을 닫고 새 단가를 등록하세요.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품목별 공급처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품목별 공급처 관리 — 목록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14</a:t>
            </a:r>
          </a:p>
        </p:txBody>
      </p:sp>
      <p:pic>
        <p:nvPicPr>
          <p:cNvPr id="8" name="Picture 7" descr="14_품목별 공급처 관리_목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IM_ITEM_MASTER (1943건)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화면 제목 옆에서 전체 건수를 확인합니다.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897871" y="173913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검색어로 대상을 조회합니다.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2128123" y="22045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5283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5420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필터로 목록 범위를 좁힙니다.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3396624" y="220458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8712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28849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우측 상단 등록 버튼으로 신규 등록 화면을 엽니다.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8068236" y="198513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4290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34427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행의 수정·삭제 아이콘으로 기존 자료를 편집합니다.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1601285" y="260355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발주율은 한 품목을 여러 공급처로 나눠 발주할 때의 배분 비율입니다. 합계가 100%가 되도록 관리하세요.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품목별 공급처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품목별 공급처 관리 — 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14</a:t>
            </a:r>
          </a:p>
        </p:txBody>
      </p:sp>
      <p:pic>
        <p:nvPicPr>
          <p:cNvPr id="8" name="Picture 7" descr="14_품목별 공급처 관리_등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IM_ITEM_MASTER (1943건)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목록에서 등록 버튼을 누르면 입력 화면이 열립니다.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5602843" y="332780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필수 항목(*) — 공급처 · 품목</a:t>
            </a:r>
          </a:p>
        </p:txBody>
      </p:sp>
      <p:sp>
        <p:nvSpPr>
          <p:cNvPr id="18" name="Oval 17"/>
          <p:cNvSpPr/>
          <p:nvPr/>
        </p:nvSpPr>
        <p:spPr>
          <a:xfrm>
            <a:off x="5705141" y="194932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항목 — 시작일 · 종료일 · 발주형태 · 지불유형 · 발주율…</a:t>
            </a:r>
          </a:p>
        </p:txBody>
      </p:sp>
      <p:sp>
        <p:nvSpPr>
          <p:cNvPr id="21" name="Oval 20"/>
          <p:cNvSpPr/>
          <p:nvPr/>
        </p:nvSpPr>
        <p:spPr>
          <a:xfrm>
            <a:off x="5602843" y="332780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51586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529584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[저장]으로 반영합니다. 취소하면 입력값은 버려집니다.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발주율은 한 품목을 여러 공급처로 나눠 발주할 때의 배분 비율입니다. 합계가 100%가 되도록 관리하세요.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품목별 공급처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품목별 공급처 관리 — 수정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14</a:t>
            </a:r>
          </a:p>
        </p:txBody>
      </p:sp>
      <p:pic>
        <p:nvPicPr>
          <p:cNvPr id="8" name="Picture 7" descr="14_품목별 공급처 관리_수저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IM_ITEM_MASTER (1943건)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수정할 행을 선택하면 기존 값이 채워진 상태로 열립니다.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5602843" y="332780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필수 항목(*) — 공급처 · 품목</a:t>
            </a:r>
          </a:p>
        </p:txBody>
      </p:sp>
      <p:sp>
        <p:nvSpPr>
          <p:cNvPr id="18" name="Oval 17"/>
          <p:cNvSpPr/>
          <p:nvPr/>
        </p:nvSpPr>
        <p:spPr>
          <a:xfrm>
            <a:off x="5705141" y="194932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항목 — 시작일 · 종료일 · 발주형태 · 지불유형 · 발주율…</a:t>
            </a:r>
          </a:p>
        </p:txBody>
      </p:sp>
      <p:sp>
        <p:nvSpPr>
          <p:cNvPr id="21" name="Oval 20"/>
          <p:cNvSpPr/>
          <p:nvPr/>
        </p:nvSpPr>
        <p:spPr>
          <a:xfrm>
            <a:off x="5602843" y="332780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51586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529584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[저장]으로 반영합니다. 취소하면 입력값은 버려집니다.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40736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7696" y="4087368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코드 등 키 항목은 수정할 수 없습니다. 잘못 등록했으면 삭제 후 다시 등록합니다.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4974336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686800" y="4974336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887968" y="5093207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87968" y="5303520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발주율은 한 품목을 여러 공급처로 나눠 발주할 때의 배분 비율입니다. 합계가 100%가 되도록 관리하세요.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제품판매단가관리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제품판매단가관리 — 목록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15</a:t>
            </a:r>
          </a:p>
        </p:txBody>
      </p:sp>
      <p:pic>
        <p:nvPicPr>
          <p:cNvPr id="8" name="Picture 7" descr="15_제품판매단가관리_목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고객·제품별 판매단가와 적용 기간을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화면 제목 옆에서 전체 건수를 확인합니다.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2050600" y="171867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검색어로 대상을 조회합니다.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5283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97696" y="2542032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필터로 목록 범위를 좁힙니다.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2803293" y="2143210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28712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97696" y="28849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우측 상단 등록 버튼으로 신규 등록 화면을 엽니다.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8088696" y="192375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4290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7696" y="34427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행의 수정·삭제 아이콘으로 기존 자료를 편집합니다.</a:t>
            </a:r>
          </a:p>
        </p:txBody>
      </p:sp>
      <p:sp>
        <p:nvSpPr>
          <p:cNvPr id="26" name="Oval 25"/>
          <p:cNvSpPr/>
          <p:nvPr/>
        </p:nvSpPr>
        <p:spPr>
          <a:xfrm>
            <a:off x="1580826" y="254217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구매단가와 동일하게 고객×품목 기간 중복을 피합니다. 외화판매단가는 통화 기준을 함께 확인하세요.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제품판매단가관리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제품판매단가관리 — 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15</a:t>
            </a:r>
          </a:p>
        </p:txBody>
      </p:sp>
      <p:pic>
        <p:nvPicPr>
          <p:cNvPr id="8" name="Picture 7" descr="15_제품판매단가관리_등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고객·제품별 판매단가와 적용 기간을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목록에서 등록 버튼을 누르면 입력 화면이 열립니다.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5807440" y="332780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필수 항목(*) — 고객 · 품목 · 제품라인유형 · 시작일</a:t>
            </a:r>
          </a:p>
        </p:txBody>
      </p:sp>
      <p:sp>
        <p:nvSpPr>
          <p:cNvPr id="18" name="Oval 17"/>
          <p:cNvSpPr/>
          <p:nvPr/>
        </p:nvSpPr>
        <p:spPr>
          <a:xfrm>
            <a:off x="5909738" y="194932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항목 — 종료일 · 판매단가 · 기준판매단가 · 외화판매단가 · 세율(%)…</a:t>
            </a:r>
          </a:p>
        </p:txBody>
      </p:sp>
      <p:sp>
        <p:nvSpPr>
          <p:cNvPr id="21" name="Oval 20"/>
          <p:cNvSpPr/>
          <p:nvPr/>
        </p:nvSpPr>
        <p:spPr>
          <a:xfrm>
            <a:off x="5807440" y="332780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51586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529584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[저장]으로 반영합니다. 취소하면 입력값은 버려집니다.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구매단가와 동일하게 고객×품목 기간 중복을 피합니다. 외화판매단가는 통화 기준을 함께 확인하세요.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기준정보  ›  제품판매단가관리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제품판매단가관리 — 수정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15</a:t>
            </a:r>
          </a:p>
        </p:txBody>
      </p:sp>
      <p:pic>
        <p:nvPicPr>
          <p:cNvPr id="8" name="Picture 7" descr="15_제품판매단가관리_수저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고객·제품별 판매단가와 적용 기간을 관리합니다.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수정할 행을 선택하면 기존 값이 채워진 상태로 열립니다.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5807440" y="332780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필수 항목(*) — 고객 · 품목 · 제품라인유형 · 시작일</a:t>
            </a:r>
          </a:p>
        </p:txBody>
      </p:sp>
      <p:sp>
        <p:nvSpPr>
          <p:cNvPr id="18" name="Oval 17"/>
          <p:cNvSpPr/>
          <p:nvPr/>
        </p:nvSpPr>
        <p:spPr>
          <a:xfrm>
            <a:off x="5909738" y="194932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항목 — 종료일 · 판매단가 · 기준판매단가 · 외화판매단가 · 세율(%)…</a:t>
            </a:r>
          </a:p>
        </p:txBody>
      </p:sp>
      <p:sp>
        <p:nvSpPr>
          <p:cNvPr id="21" name="Oval 20"/>
          <p:cNvSpPr/>
          <p:nvPr/>
        </p:nvSpPr>
        <p:spPr>
          <a:xfrm>
            <a:off x="5807440" y="332780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51586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529584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[저장]으로 반영합니다. 취소하면 입력값은 버려집니다.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40736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7696" y="4087368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코드 등 키 항목은 수정할 수 없습니다. 잘못 등록했으면 삭제 후 다시 등록합니다.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4974336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686800" y="4974336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887968" y="5093207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87968" y="5303520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구매단가와 동일하게 고객×품목 기간 중복을 피합니다. 외화판매단가는 통화 기준을 함께 확인하세요.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OEE 관리  ›  OEE 비가동 입력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OEE 비가동 입력 — 목록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16</a:t>
            </a:r>
          </a:p>
        </p:txBody>
      </p:sp>
      <p:pic>
        <p:nvPicPr>
          <p:cNvPr id="8" name="Picture 7" descr="16_OEE 비가동 입력_목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C / OPERATIONS 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작업장(전체 · SMT · ASSY)을 고릅니다.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2082088" y="280559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목록에서 대상 LINE/CELL을 체크합니다.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3350590" y="416360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 · 가능 · 실패 건수로 명령 대상을 확인합니다.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907148" y="2747257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[비가동 START]로 비가동을 시작합니다.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7733720" y="230532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859464"/>
            <a:ext cx="3200400" cy="104241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686800" y="4859464"/>
            <a:ext cx="45720" cy="104241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7968" y="5188648"/>
            <a:ext cx="2834640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▶ 작업장(전체·SMT·ASSY)을 고른 뒤 LINE/CELL을 선택해야 명령이 활성화됩니다. 상단에서 통신 상태를 확인하세요.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OEE 관리  ›  OEE 종합 현황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OEE 종합 현황 — 목록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17</a:t>
            </a:r>
          </a:p>
        </p:txBody>
      </p:sp>
      <p:pic>
        <p:nvPicPr>
          <p:cNvPr id="8" name="Picture 7" descr="17_OEE 종합 현황_목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상단 KPI에서 공장 종합 OEE와 가동율 · 성능율 · 양품율을 봅니다.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2000249" y="2046027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4003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414016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라인 카드에서 라인별 OEE와 상태(가동 · 주의 · 비가동)를 비교합니다.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2409443" y="296671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17296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3186684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선택한 라인의 설비별 지표를 확인합니다.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2409443" y="3887400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7307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744468"/>
            <a:ext cx="2889504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하단 경고 줄에서 무작업 경과 · 검사 재시도 등 이상을 확인합니다.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3637026" y="4900155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▶ 조회 기간과 라인 조건에 따라 집계가 달라집니다. 설비·모델별 가동률 추이를 비교할 때 사용합니다.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OEE 관리  ›  설비별 작업 실적관리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설비별 작업 실적관리 — 목록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18</a:t>
            </a:r>
          </a:p>
        </p:txBody>
      </p:sp>
      <p:pic>
        <p:nvPicPr>
          <p:cNvPr id="8" name="Picture 7" descr="18_설비별 작업 실적관리_목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작업지시(IP_PRODUCT_RUN_CARD) 기준 설비 가동상태 · 계획/실적 · 실적/불량/비가동 등록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계획일(From ~ To) 범위를 지정합니다.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754733" y="2220957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라인을 고르고 품번 · 품명 · 설비코드로 검색합니다.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4656582" y="200150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[조회]를 누르면 작업지시 카드가 나열됩니다.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5489515" y="2000478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카드에서 계획수량 / 실적수량 / 부적합수량을 확인합니다.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3186912" y="2957506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85876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3872483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카드 우측 [실적등록] · [불량등록]으로 등록합니다.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7070826" y="255391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▶ 실적·불량은 작업지시 행의 버튼으로 등록합니다. 비가동은 작업지시 없이 설비만 선택해도 등록됩니다.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OEE 관리  ›  설비별 작업 실적관리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설비별 작업 실적관리 — 실적등록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18</a:t>
            </a:r>
          </a:p>
        </p:txBody>
      </p:sp>
      <p:pic>
        <p:nvPicPr>
          <p:cNvPr id="8" name="Picture 7" descr="18_설비별 작업 실적관리_실적등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작업지시(IP_PRODUCT_RUN_CARD) 기준 설비 가동상태 · 계획/실적 · 실적/불량/비가동 등록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작업지시 카드의 [실적등록]으로 우측 패널을 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5899308" y="148387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실적 이력에서 이미 등록된 실적을 확인합니다.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5707699" y="2107892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[신규 실적]으로 입력 폼을 펼쳐 실적을 등록합니다.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8037507" y="179588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▶ 실적·불량은 작업지시 행의 버튼으로 등록합니다. 비가동은 작업지시 없이 설비만 선택해도 등록됩니다.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OEE 관리  ›  설비 운영 현황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설비 운영 현황 — 목록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19</a:t>
            </a:r>
          </a:p>
        </p:txBody>
      </p:sp>
      <p:pic>
        <p:nvPicPr>
          <p:cNvPr id="8" name="Picture 7" descr="19_설비 운영 현황_목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설비마스터 기준 현재 가동상태 · 라인/설비 단위 비가동 처리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[모니터링] · [비가동 처리] 탭으로 모드를 전환합니다.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672894" y="2156509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설비유형 · 적용공정 · 상태로 대상을 좁힙니다.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1836572" y="255240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전체 · 비가동 · 표시 대수를 확인합니다.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7684617" y="2351362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자동갱신 주기를 정하고 [조회]합니다.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8028116" y="1652663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85876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3872483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행의 [비가동 관리]로 해당 설비를 처리합니다.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7881030" y="279329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▶ 자동갱신(10·30·60초)을 켜면 현황판으로 쓸 수 있습니다. 상태 배지는 빨강=비가동, 초록=정상입니다.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OEE 관리  ›  설비 운영 현황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설비 운영 현황 — 비가동관리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19</a:t>
            </a:r>
          </a:p>
        </p:txBody>
      </p:sp>
      <p:pic>
        <p:nvPicPr>
          <p:cNvPr id="8" name="Picture 7" descr="19_설비 운영 현황_비가동관ᄅ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설비마스터 기준 현재 가동상태 · 라인/설비 단위 비가동 처리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행의 [비가동 관리]를 누르면 비가동 처리로 전환됩니다.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5853914" y="229714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대상 설비를 확인하고 원인설비를 체크합니다.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1534791" y="344240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사유를 고른 뒤 비가동 시작 / 가동 전환을 실행합니다.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113056" y="4884377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▶ 자동갱신(10·30·60초)을 켜면 현황판으로 쓸 수 있습니다. 상태 배지는 빨강=비가동, 초록=정상입니다.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OEE 관리  ›  설비 운영 및 실적관리(현장)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설비 운영 및 실적관리(현장) — 목록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20</a:t>
            </a:r>
          </a:p>
        </p:txBody>
      </p:sp>
      <p:pic>
        <p:nvPicPr>
          <p:cNvPr id="8" name="Picture 7" descr="20_설비 운영 및 실적관리(현장)_목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현장 작업자용 · 라인/설비 비가동 처리와 작업실적 등록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[라인] 또는 [설비] 단위를 고르고 대상을 선택합니다.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2082088" y="2220957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바코드를 스캔하거나 작업자를 선택합니다.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4574743" y="2047535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당일 지표에서 가동율 · 당일 비가동 시간을 확인합니다.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2245766" y="3150850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0098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6" y="3314700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비가동 사유를 고르고 [비가동 시작]을 누릅니다.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4656582" y="5081197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85876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3872483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우측 작업실적 관리에서 작업지시를 조회해 실적을 등록합니다.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7111745" y="2448034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이미 비가동 중이면 버튼이 [가동 전환]으로 바뀝니다. 종료 시 비가동 사유 선택은 필수입니다.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9AA3B2"/>
                </a:solidFill>
                <a:latin typeface="Malgun Gothic"/>
              </a:rPr>
              <a:t>OEE 관리  ›  설비 운영 및 실적관리(현장)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설비 운영 및 실적관리(현장) — 실적등록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000" b="1">
                <a:solidFill>
                  <a:srgbClr val="596272"/>
                </a:solidFill>
                <a:latin typeface="Malgun Gothic"/>
              </a:rPr>
              <a:t>20</a:t>
            </a:r>
          </a:p>
        </p:txBody>
      </p:sp>
      <p:pic>
        <p:nvPicPr>
          <p:cNvPr id="8" name="Picture 7" descr="20_설비 운영 및 실적관리(현장)_실적등로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170432"/>
            <a:ext cx="8183879" cy="46034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92608" y="1170432"/>
            <a:ext cx="8183879" cy="4603432"/>
          </a:xfrm>
          <a:prstGeom prst="rect">
            <a:avLst/>
          </a:prstGeom>
          <a:noFill/>
          <a:ln w="9525"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2608" y="5920168"/>
            <a:ext cx="81838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algun Gothic"/>
              </a:rPr>
              <a:t>현장 작업자용 · 라인/설비 비가동 처리와 작업실적 등록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152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F2430"/>
                </a:solidFill>
                <a:latin typeface="Malgun Gothic"/>
              </a:rPr>
              <a:t>조작방법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1463040"/>
            <a:ext cx="3200400" cy="22860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0" y="16276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7696" y="1641348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작업지시를 고르고 [작업 실적 등록]을 엽니다.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2949508" y="193094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1854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97696" y="2199132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실적수량 · 작업시간 · 투입인원을 키패드로 입력합니다.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2934562" y="4329841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E6007E"/>
                </a:solidFill>
                <a:latin typeface="Malgun Gothic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2756916"/>
            <a:ext cx="2889504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2E3440"/>
                </a:solidFill>
                <a:latin typeface="Malgun Gothic"/>
              </a:rPr>
              <a:t>헤더의 [저장]을 누르면 저장 후 화면이 닫힙니다.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5719886" y="1711485"/>
            <a:ext cx="274320" cy="274320"/>
          </a:xfrm>
          <a:prstGeom prst="ellipse">
            <a:avLst/>
          </a:prstGeom>
          <a:solidFill>
            <a:srgbClr val="E6007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0" y="4859464"/>
            <a:ext cx="3200400" cy="859536"/>
          </a:xfrm>
          <a:prstGeom prst="rect">
            <a:avLst/>
          </a:prstGeom>
          <a:solidFill>
            <a:srgbClr val="E9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686800" y="4859464"/>
            <a:ext cx="45720" cy="859536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887968" y="4978336"/>
            <a:ext cx="2834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F2430"/>
                </a:solidFill>
                <a:latin typeface="Malgun Gothic"/>
              </a:rPr>
              <a:t>운영 조건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87968" y="5188648"/>
            <a:ext cx="28346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44C59"/>
                </a:solidFill>
                <a:latin typeface="Malgun Gothic"/>
              </a:rPr>
              <a:t>※ 이미 비가동 중이면 버튼이 [가동 전환]으로 바뀝니다. 종료 시 비가동 사유 선택은 필수입니다.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3659A-1B2D-3382-52C0-47D8DC17E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468E915-D0D4-680F-4354-695EE612C697}"/>
              </a:ext>
            </a:extLst>
          </p:cNvPr>
          <p:cNvSpPr/>
          <p:nvPr/>
        </p:nvSpPr>
        <p:spPr>
          <a:xfrm>
            <a:off x="305" y="292608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CDAE54-23CA-0119-8BCE-947486FBE57C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3A599F-929A-FAFF-EAB5-9649C00D9CD8}"/>
              </a:ext>
            </a:extLst>
          </p:cNvPr>
          <p:cNvSpPr/>
          <p:nvPr/>
        </p:nvSpPr>
        <p:spPr>
          <a:xfrm>
            <a:off x="0" y="841248"/>
            <a:ext cx="12191695" cy="41148"/>
          </a:xfrm>
          <a:prstGeom prst="rect">
            <a:avLst/>
          </a:prstGeom>
          <a:solidFill>
            <a:srgbClr val="E600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EFA1FA-D33D-F69F-4F67-C4356A08CCC7}"/>
              </a:ext>
            </a:extLst>
          </p:cNvPr>
          <p:cNvSpPr txBox="1"/>
          <p:nvPr/>
        </p:nvSpPr>
        <p:spPr>
          <a:xfrm>
            <a:off x="502920" y="146304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A3B2"/>
                </a:solidFill>
                <a:latin typeface="Malgun Gothic"/>
              </a:rPr>
              <a:t>OEE 관리  ›  설비 운영 및 실적관리(현장)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7F944B-8D8A-5095-673E-77C5AA8CC9F8}"/>
              </a:ext>
            </a:extLst>
          </p:cNvPr>
          <p:cNvSpPr txBox="1"/>
          <p:nvPr/>
        </p:nvSpPr>
        <p:spPr>
          <a:xfrm>
            <a:off x="502920" y="402336"/>
            <a:ext cx="82296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lang="ko-KR" altLang="en-US" sz="2000" b="1" dirty="0">
                <a:solidFill>
                  <a:srgbClr val="FFFFFF"/>
                </a:solidFill>
                <a:latin typeface="Malgun Gothic"/>
              </a:rPr>
              <a:t>향 후 일정 </a:t>
            </a:r>
            <a:endParaRPr sz="2000" b="1" dirty="0">
              <a:solidFill>
                <a:srgbClr val="FFFFFF"/>
              </a:solidFill>
              <a:latin typeface="Malgun Gothic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A85657-0F7A-7425-7020-9C4DE875E493}"/>
              </a:ext>
            </a:extLst>
          </p:cNvPr>
          <p:cNvSpPr txBox="1"/>
          <p:nvPr/>
        </p:nvSpPr>
        <p:spPr>
          <a:xfrm>
            <a:off x="9692640" y="40233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596272"/>
                </a:solidFill>
                <a:latin typeface="Malgun Gothic"/>
              </a:rPr>
              <a:t>20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5B0513A-90AA-4B26-8907-E8FBE820F043}"/>
              </a:ext>
            </a:extLst>
          </p:cNvPr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2A9B4"/>
                </a:solidFill>
                <a:latin typeface="Malgun Gothic"/>
              </a:rPr>
              <a:t>은성 전장 OEE 관리 매뉴얼</a:t>
            </a:r>
          </a:p>
        </p:txBody>
      </p:sp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50589620-2D81-BA8E-457C-FFC8E66C3AC9}"/>
              </a:ext>
            </a:extLst>
          </p:cNvPr>
          <p:cNvGraphicFramePr>
            <a:graphicFrameLocks noGrp="1"/>
          </p:cNvGraphicFramePr>
          <p:nvPr/>
        </p:nvGraphicFramePr>
        <p:xfrm>
          <a:off x="502920" y="1280160"/>
          <a:ext cx="11186160" cy="5236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1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218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1599">
                  <a:extLst>
                    <a:ext uri="{9D8B030D-6E8A-4147-A177-3AD203B41FA5}">
                      <a16:colId xmlns:a16="http://schemas.microsoft.com/office/drawing/2014/main" val="1966148418"/>
                    </a:ext>
                  </a:extLst>
                </a:gridCol>
                <a:gridCol w="907305">
                  <a:extLst>
                    <a:ext uri="{9D8B030D-6E8A-4147-A177-3AD203B41FA5}">
                      <a16:colId xmlns:a16="http://schemas.microsoft.com/office/drawing/2014/main" val="1687489652"/>
                    </a:ext>
                  </a:extLst>
                </a:gridCol>
                <a:gridCol w="199393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8611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명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일정 관리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861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계획일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실적일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9603176"/>
                  </a:ext>
                </a:extLst>
              </a:tr>
              <a:tr h="781332">
                <a:tc>
                  <a:txBody>
                    <a:bodyPr/>
                    <a:lstStyle/>
                    <a:p>
                      <a:pPr marL="0" marR="0" indent="0" algn="ctr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기능개발</a:t>
                      </a:r>
                      <a:endParaRPr lang="en-US" altLang="ko-KR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수불관리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외주 포함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b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</a:b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원자재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반제품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제품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수불관리 기능 </a:t>
                      </a:r>
                      <a:r>
                        <a:rPr lang="ko-KR" altLang="en-US" sz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백엔드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프로세스</a:t>
                      </a:r>
                      <a:r>
                        <a:rPr lang="ko-KR" altLang="en-US" sz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처리프로세스 검증</a:t>
                      </a:r>
                      <a:endParaRPr lang="en-US" altLang="ko-KR" sz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indent="0" algn="l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사용자 조회용 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 </a:t>
                      </a:r>
                      <a:r>
                        <a:rPr lang="ko-KR" altLang="en-US" sz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추가 </a:t>
                      </a:r>
                      <a:endParaRPr lang="en-US" altLang="ko-KR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9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월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endParaRPr lang="ko-KR" altLang="en-US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81332">
                <a:tc>
                  <a:txBody>
                    <a:bodyPr/>
                    <a:lstStyle/>
                    <a:p>
                      <a:pPr marL="0" marR="0" indent="0" algn="ctr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기능개발</a:t>
                      </a:r>
                      <a:endParaRPr lang="en-US" altLang="ko-KR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생산관리</a:t>
                      </a:r>
                      <a:b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</a:b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작업지시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실적관리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작업지시 실적관리</a:t>
                      </a:r>
                      <a:r>
                        <a:rPr lang="ko-KR" altLang="en-US" sz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결과 사용자 조회용 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 </a:t>
                      </a:r>
                      <a:r>
                        <a:rPr lang="ko-KR" altLang="en-US" sz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추가 </a:t>
                      </a:r>
                      <a:endParaRPr lang="en-US" altLang="ko-KR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9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월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작업지시는 현재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PB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</a:t>
                      </a:r>
                      <a:r>
                        <a:rPr lang="ko-KR" altLang="en-US" sz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운영중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654799"/>
                  </a:ext>
                </a:extLst>
              </a:tr>
              <a:tr h="781332">
                <a:tc>
                  <a:txBody>
                    <a:bodyPr/>
                    <a:lstStyle/>
                    <a:p>
                      <a:pPr marL="0" marR="0" indent="0" algn="ctr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기능개발</a:t>
                      </a:r>
                      <a:endParaRPr lang="en-US" altLang="ko-KR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재고관리 </a:t>
                      </a:r>
                      <a:b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</a:b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재고 평가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마감 포함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재고마감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평가 관리 기능 </a:t>
                      </a:r>
                      <a:r>
                        <a:rPr lang="ko-KR" altLang="en-US" sz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백엔드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프로세스</a:t>
                      </a:r>
                      <a:r>
                        <a:rPr lang="ko-KR" altLang="en-US" sz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처리프로세스 검증</a:t>
                      </a:r>
                      <a:endParaRPr lang="en-US" altLang="ko-KR" sz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indent="0" algn="l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사용자 조회용 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 </a:t>
                      </a:r>
                      <a:r>
                        <a:rPr lang="ko-KR" altLang="en-US" sz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추가 </a:t>
                      </a:r>
                      <a:endParaRPr lang="en-US" altLang="ko-KR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9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월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endParaRPr lang="ko-KR" altLang="en-US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4032412"/>
                  </a:ext>
                </a:extLst>
              </a:tr>
              <a:tr h="781332">
                <a:tc>
                  <a:txBody>
                    <a:bodyPr/>
                    <a:lstStyle/>
                    <a:p>
                      <a:pPr marL="0" marR="0" indent="0" algn="ctr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요구사항</a:t>
                      </a:r>
                      <a:endParaRPr lang="en-US" altLang="ko-KR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구매 기준 적용을 통한 품별 등급 표기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DB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구조개선 및 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 </a:t>
                      </a:r>
                      <a:r>
                        <a:rPr lang="ko-KR" altLang="en-US" sz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반영 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구현 적용</a:t>
                      </a:r>
                      <a:endParaRPr lang="en-US" altLang="ko-KR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9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월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endParaRPr lang="ko-KR" altLang="en-US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656139"/>
                  </a:ext>
                </a:extLst>
              </a:tr>
              <a:tr h="781332">
                <a:tc>
                  <a:txBody>
                    <a:bodyPr/>
                    <a:lstStyle/>
                    <a:p>
                      <a:pPr marL="0" marR="0" indent="0" algn="ctr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요구사항</a:t>
                      </a:r>
                      <a:endParaRPr lang="en-US" altLang="ko-KR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월 생산계획 </a:t>
                      </a:r>
                      <a:r>
                        <a:rPr lang="ko-KR" altLang="en-US" sz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등록시</a:t>
                      </a:r>
                      <a:endParaRPr lang="en-US" altLang="ko-KR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indent="0" algn="l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재고 부족 자재 현황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BOM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기준 사용자가 지정한 계획대비</a:t>
                      </a:r>
                      <a:r>
                        <a:rPr lang="ko-KR" altLang="en-US" sz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순차적 재고감안 프로세스  검증 </a:t>
                      </a:r>
                      <a:endParaRPr lang="en-US" altLang="ko-KR" sz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indent="0" algn="l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사용자 조회용 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 </a:t>
                      </a:r>
                      <a:r>
                        <a:rPr lang="ko-KR" altLang="en-US" sz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추가 </a:t>
                      </a:r>
                      <a:endParaRPr lang="en-US" altLang="ko-KR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9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월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endParaRPr lang="ko-KR" altLang="en-US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6208408"/>
                  </a:ext>
                </a:extLst>
              </a:tr>
              <a:tr h="781332">
                <a:tc>
                  <a:txBody>
                    <a:bodyPr/>
                    <a:lstStyle/>
                    <a:p>
                      <a:pPr marL="0" marR="0" indent="0" algn="ctr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요구사항</a:t>
                      </a:r>
                      <a:endParaRPr lang="en-US" altLang="ko-KR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자재 결품 대시보드 적용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적용일 기준 이후 계획 수량 대비 </a:t>
                      </a:r>
                      <a:r>
                        <a:rPr lang="ko-KR" altLang="en-US" sz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결품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모니터링 용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추가 </a:t>
                      </a:r>
                      <a:endParaRPr lang="en-US" altLang="ko-KR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9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월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1031440" rtl="0" eaLnBrk="1" fontAlgn="auto" latinLnBrk="1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endParaRPr lang="ko-KR" altLang="en-US" sz="12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60032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63058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5391</Words>
  <Application>Microsoft Macintosh PowerPoint</Application>
  <PresentationFormat>와이드스크린</PresentationFormat>
  <Paragraphs>1225</Paragraphs>
  <Slides>56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56</vt:i4>
      </vt:variant>
    </vt:vector>
  </HeadingPairs>
  <TitlesOfParts>
    <vt:vector size="61" baseType="lpstr">
      <vt:lpstr>맑은 고딕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하 병두</cp:lastModifiedBy>
  <cp:revision>3</cp:revision>
  <dcterms:created xsi:type="dcterms:W3CDTF">2013-01-27T09:14:16Z</dcterms:created>
  <dcterms:modified xsi:type="dcterms:W3CDTF">2026-09-14T04:10:12Z</dcterms:modified>
  <cp:category/>
</cp:coreProperties>
</file>