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417320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A3B2"/>
                </a:solidFill>
                <a:latin typeface="Malgun Gothic"/>
              </a:rPr>
              <a:t>EUNSUNG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1089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lgun Gothic"/>
              </a:rPr>
              <a:t>은성 전장 OEE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245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C7CED8"/>
                </a:solidFill>
                <a:latin typeface="Malgun Gothic"/>
              </a:rPr>
              <a:t>사용자 매뉴얼 · 기준정보 / OEE 관리 (등록·수정 화면 포함)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8392"/>
                </a:solidFill>
                <a:latin typeface="Malgun Gothic"/>
              </a:rPr>
              <a:t>2026-09-14 · 은성전장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007E"/>
                </a:solidFill>
                <a:latin typeface="Malgun Gothic"/>
              </a:rPr>
              <a:t>기준정보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39496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4592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6459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품목관리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3395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93395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BOM관리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339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2199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2199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거래처관리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2199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51002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51002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고객마스터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100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79806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7980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설비마스터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980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08610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08610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표준시간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08610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3741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37413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 비가동 사유코드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741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66217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66217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설비별 비가동 사유 연계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6621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395020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95020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공정관리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9502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4장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23824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2382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생산라인관리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2382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52628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452628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생산월력관리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52628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481431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481431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작업자관리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81431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510235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10235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구매단가관리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1023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539038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539038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품목별 공급처 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39038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567842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56784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제품판매단가관리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67842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007E"/>
                </a:solidFill>
                <a:latin typeface="Malgun Gothic"/>
              </a:rPr>
              <a:t>OEE 관리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1481328"/>
            <a:ext cx="539496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164592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16459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OEE 비가동 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16459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1장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193395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76288" y="193395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OEE 종합 현황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19339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1장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2512" y="222199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222199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설비별 작업 실적관리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222199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251002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251002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 운영 현황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25100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82512" y="279806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76288" y="27980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3440"/>
                </a:solidFill>
                <a:latin typeface="Malgun Gothic"/>
              </a:rPr>
              <a:t>설비 운영 및 실적관리(현장)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0" y="27980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1447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</a:rPr>
              <a:t>※ 제외: 기준정보의 라우팅관리 · 작업지도서관리 · 창고관리 · 라벨디자인관리, OEE 관리의 공정별 OEE 종합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01</a:t>
            </a:r>
          </a:p>
        </p:txBody>
      </p:sp>
      <p:pic>
        <p:nvPicPr>
          <p:cNvPr id="8" name="Picture 7" descr="01_품목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 정보를 등록하고 관리합니다. (2519건)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503069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4447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품목코드는 조직 단위로 유일해야 하며 등록 후 변경할 수 없습니다. 품목은 BOM·생산·재고의 공통 기준입니다.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01</a:t>
            </a:r>
          </a:p>
        </p:txBody>
      </p:sp>
      <p:pic>
        <p:nvPicPr>
          <p:cNvPr id="8" name="Picture 7" descr="01_품목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 정보를 등록하고 관리합니다. (2519건)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2228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품목코드 · 품번 · 품목명 · 유형 · 품목분류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고객품번 · 리비전 · 마킹문구 · 차종 · 모델접미…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품목코드는 조직 단위로 유일해야 하며 등록 후 변경할 수 없습니다. 품목은 BOM·생산·재고의 공통 기준입니다.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01</a:t>
            </a:r>
          </a:p>
        </p:txBody>
      </p:sp>
      <p:pic>
        <p:nvPicPr>
          <p:cNvPr id="8" name="Picture 7" descr="01_품목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 정보를 등록하고 관리합니다. (2519건)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2228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품목코드 · 품번 · 품목명 · 유형 · 품목분류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고객품번 · 리비전 · 마킹문구 · 차종 · 모델접미…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88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30225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59543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189220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5189220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3080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518404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품목코드는 조직 단위로 유일해야 하며 등록 후 변경할 수 없습니다. 품목은 BOM·생산·재고의 공통 기준입니다.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BOM관리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BOM관리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02</a:t>
            </a:r>
          </a:p>
        </p:txBody>
      </p:sp>
      <p:pic>
        <p:nvPicPr>
          <p:cNvPr id="8" name="Picture 7" descr="02_BOM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제품/반제품 BOM 구조를 선택하고, 선택된 BOM 행 기준으로 라우팅과 투입자재를 관리합니다. (853건)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좌측에서 모품목(제품/반제품)을 검색해 선택합니다.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75711" y="237849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우측에 자품목 구조가 Lv(레벨)별로 펼쳐집니다.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580826" y="284435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기준일을 바꾸면 그 시점에 유효한 BOM만 조회됩니다.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[BOM 추가]로 자품목을 등록합니다.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7963460" y="16066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적용일~완료일이 겹치면 어느 BOM이 유효한지 모호해집니다. 기준일을 바꿔 유효 구조를 확인한 뒤 등록하세요.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BOM관리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BOM관리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02</a:t>
            </a:r>
          </a:p>
        </p:txBody>
      </p:sp>
      <p:pic>
        <p:nvPicPr>
          <p:cNvPr id="8" name="Picture 7" descr="02_BOM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제품/반제품 BOM 구조를 선택하고, 선택된 BOM 행 기준으로 라우팅과 투입자재를 관리합니다. (853건)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848608" y="186956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자품목코드 · 소요량 · 리비전 · 적용일 · 완료일</a:t>
            </a:r>
          </a:p>
        </p:txBody>
      </p:sp>
      <p:sp>
        <p:nvSpPr>
          <p:cNvPr id="18" name="Oval 17"/>
          <p:cNvSpPr/>
          <p:nvPr/>
        </p:nvSpPr>
        <p:spPr>
          <a:xfrm>
            <a:off x="2777718" y="234525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모품목 · 순서 · 공정코드 · 사이드 · 비고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453910" y="455026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적용일~완료일이 겹치면 어느 BOM이 유효한지 모호해집니다. 기준일을 바꿔 유효 구조를 확인한 뒤 등록하세요.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거래처관리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거래처관리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03</a:t>
            </a:r>
          </a:p>
        </p:txBody>
      </p:sp>
      <p:pic>
        <p:nvPicPr>
          <p:cNvPr id="8" name="Picture 7" descr="03_거래처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공급상 및 고객 거래처 정보를 관리합니다. (53건)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341917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4447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거래처 유형(공급사/고객)에 따라 구매단가·판매단가에서 선택 가능한 목록이 달라집니다.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거래처관리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거래처관리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03</a:t>
            </a:r>
          </a:p>
        </p:txBody>
      </p:sp>
      <p:pic>
        <p:nvPicPr>
          <p:cNvPr id="8" name="Picture 7" descr="03_거래처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공급상 및 고객 거래처 정보를 관리합니다. (53건)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5325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거래처코드 · 거래처 유형 · 거래처명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사업자번호 · 대표자 · 주소 · 전화번호 · 팩스번호…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거래처 유형(공급사/고객)에 따라 구매단가·판매단가에서 선택 가능한 목록이 달라집니다.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거래처관리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거래처관리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03</a:t>
            </a:r>
          </a:p>
        </p:txBody>
      </p:sp>
      <p:pic>
        <p:nvPicPr>
          <p:cNvPr id="8" name="Picture 7" descr="03_거래처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공급상 및 고객 거래처 정보를 관리합니다. (53건)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5325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거래처코드 · 거래처 유형 · 거래처명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사업자번호 · 대표자 · 주소 · 전화번호 · 팩스번호…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59543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74336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974336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303520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거래처 유형(공급사/고객)에 따라 구매단가·판매단가에서 선택 가능한 목록이 달라집니다.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고객마스터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고객마스터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04</a:t>
            </a:r>
          </a:p>
        </p:txBody>
      </p:sp>
      <p:pic>
        <p:nvPicPr>
          <p:cNvPr id="8" name="Picture 7" descr="04_고객마스터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ICOM_CUSTOMER (18건)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854754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128123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3232946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68236" y="198513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01285" y="260355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고객은 제품판매단가의 적용 대상입니다. 거래상태를 중지로 바꾸면 신규 단가 등록 대상에서 빠집니다.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고객마스터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고객마스터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04</a:t>
            </a:r>
          </a:p>
        </p:txBody>
      </p:sp>
      <p:pic>
        <p:nvPicPr>
          <p:cNvPr id="8" name="Picture 7" descr="04_고객마스터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ICOM_CUSTOMER (18건)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고객코드 · 고객명 · 영문명 · 전화 · 주소</a:t>
            </a:r>
          </a:p>
        </p:txBody>
      </p:sp>
      <p:sp>
        <p:nvSpPr>
          <p:cNvPr id="18" name="Oval 17"/>
          <p:cNvSpPr/>
          <p:nvPr/>
        </p:nvSpPr>
        <p:spPr>
          <a:xfrm>
            <a:off x="6042726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대표자 · 거래상태 · 거래유형 · 지불유형 · 신용등급…</a:t>
            </a:r>
          </a:p>
        </p:txBody>
      </p:sp>
      <p:sp>
        <p:nvSpPr>
          <p:cNvPr id="21" name="Oval 20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고객은 제품판매단가의 적용 대상입니다. 거래상태를 중지로 바꾸면 신규 단가 등록 대상에서 빠집니다.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고객마스터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고객마스터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04</a:t>
            </a:r>
          </a:p>
        </p:txBody>
      </p:sp>
      <p:pic>
        <p:nvPicPr>
          <p:cNvPr id="8" name="Picture 7" descr="04_고객마스터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ICOM_CUSTOMER (18건)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고객코드 · 고객명 · 영문명 · 전화 · 주소</a:t>
            </a:r>
          </a:p>
        </p:txBody>
      </p:sp>
      <p:sp>
        <p:nvSpPr>
          <p:cNvPr id="18" name="Oval 17"/>
          <p:cNvSpPr/>
          <p:nvPr/>
        </p:nvSpPr>
        <p:spPr>
          <a:xfrm>
            <a:off x="6042726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대표자 · 거래상태 · 거래유형 · 지불유형 · 신용등급…</a:t>
            </a:r>
          </a:p>
        </p:txBody>
      </p:sp>
      <p:sp>
        <p:nvSpPr>
          <p:cNvPr id="21" name="Oval 20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88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30225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5189220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5189220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53080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518404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고객은 제품판매단가의 적용 대상입니다. 거래상태를 중지로 바꾸면 신규 단가 등록 대상에서 빠집니다.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설비마스터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05</a:t>
            </a:r>
          </a:p>
        </p:txBody>
      </p:sp>
      <p:pic>
        <p:nvPicPr>
          <p:cNvPr id="8" name="Picture 7" descr="05_설비마스터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939789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98469" y="23068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4700058" y="208743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32411" y="154013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703584" y="273782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적용공정을 반드시 지정하세요. 설비마스터가 OEE 비가동 처리와 설비 운영 현황의 기준이 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설비마스터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05</a:t>
            </a:r>
          </a:p>
        </p:txBody>
      </p:sp>
      <p:pic>
        <p:nvPicPr>
          <p:cNvPr id="8" name="Picture 7" descr="05_설비마스터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326884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설비코드 · 설비명 · 유형</a:t>
            </a:r>
          </a:p>
        </p:txBody>
      </p:sp>
      <p:sp>
        <p:nvSpPr>
          <p:cNvPr id="18" name="Oval 17"/>
          <p:cNvSpPr/>
          <p:nvPr/>
        </p:nvSpPr>
        <p:spPr>
          <a:xfrm>
            <a:off x="6691043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통신방식 · 적용공정 · 제조사 · 모델</a:t>
            </a:r>
          </a:p>
        </p:txBody>
      </p:sp>
      <p:sp>
        <p:nvSpPr>
          <p:cNvPr id="21" name="Oval 20"/>
          <p:cNvSpPr/>
          <p:nvPr/>
        </p:nvSpPr>
        <p:spPr>
          <a:xfrm>
            <a:off x="6211519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적용공정을 반드시 지정하세요. 설비마스터가 OEE 비가동 처리와 설비 운영 현황의 기준이 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설비마스터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설비마스터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05</a:t>
            </a:r>
          </a:p>
        </p:txBody>
      </p:sp>
      <p:pic>
        <p:nvPicPr>
          <p:cNvPr id="8" name="Picture 7" descr="05_설비마스터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326884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설비코드 · 설비명 · 유형</a:t>
            </a:r>
          </a:p>
        </p:txBody>
      </p:sp>
      <p:sp>
        <p:nvSpPr>
          <p:cNvPr id="18" name="Oval 17"/>
          <p:cNvSpPr/>
          <p:nvPr/>
        </p:nvSpPr>
        <p:spPr>
          <a:xfrm>
            <a:off x="6691043" y="205674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통신방식 · 적용공정 · 제조사 · 모델</a:t>
            </a:r>
          </a:p>
        </p:txBody>
      </p:sp>
      <p:sp>
        <p:nvSpPr>
          <p:cNvPr id="21" name="Oval 20"/>
          <p:cNvSpPr/>
          <p:nvPr/>
        </p:nvSpPr>
        <p:spPr>
          <a:xfrm>
            <a:off x="6211519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59543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적용공정을 반드시 지정하세요. 설비마스터가 OEE 비가동 처리와 설비 운영 현황의 기준이 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표준시간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표준시간 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06</a:t>
            </a:r>
          </a:p>
        </p:txBody>
      </p:sp>
      <p:pic>
        <p:nvPicPr>
          <p:cNvPr id="8" name="Picture 7" descr="06_표준시간 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품목(모델) 기준 ST/CT/NT/TT 표준시간 · 적용기간 리비전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27576" y="513592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198513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CT(사이클타임)는 OEE 성능가동률 계산의 기준입니다. 설비·모델이 바뀌면 새 적용기간으로 등록하세요.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표준시간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표준시간 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06</a:t>
            </a:r>
          </a:p>
        </p:txBody>
      </p:sp>
      <p:pic>
        <p:nvPicPr>
          <p:cNvPr id="8" name="Picture 7" descr="06_표준시간 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품목(모델) 기준 ST/CT/NT/TT 표준시간 · 적용기간 리비전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77330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모델코드 · 설비코드 · 적용 시작일</a:t>
            </a:r>
          </a:p>
        </p:txBody>
      </p:sp>
      <p:sp>
        <p:nvSpPr>
          <p:cNvPr id="18" name="Oval 17"/>
          <p:cNvSpPr/>
          <p:nvPr/>
        </p:nvSpPr>
        <p:spPr>
          <a:xfrm>
            <a:off x="6093875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모델명 · 설비명 · 적용 종료일 · ST — · CT —…</a:t>
            </a:r>
          </a:p>
        </p:txBody>
      </p:sp>
      <p:sp>
        <p:nvSpPr>
          <p:cNvPr id="21" name="Oval 20"/>
          <p:cNvSpPr/>
          <p:nvPr/>
        </p:nvSpPr>
        <p:spPr>
          <a:xfrm>
            <a:off x="5700026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CT(사이클타임)는 OEE 성능가동률 계산의 기준입니다. 설비·모델이 바뀌면 새 적용기간으로 등록하세요.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표준시간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표준시간 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06</a:t>
            </a:r>
          </a:p>
        </p:txBody>
      </p:sp>
      <p:pic>
        <p:nvPicPr>
          <p:cNvPr id="8" name="Picture 7" descr="06_표준시간 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품목(모델) 기준 ST/CT/NT/TT 표준시간 · 적용기간 리비전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77330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모델코드 · 설비코드 · 적용 시작일</a:t>
            </a:r>
          </a:p>
        </p:txBody>
      </p:sp>
      <p:sp>
        <p:nvSpPr>
          <p:cNvPr id="18" name="Oval 17"/>
          <p:cNvSpPr/>
          <p:nvPr/>
        </p:nvSpPr>
        <p:spPr>
          <a:xfrm>
            <a:off x="6093875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모델명 · 설비명 · 적용 종료일 · ST — · CT —…</a:t>
            </a:r>
          </a:p>
        </p:txBody>
      </p:sp>
      <p:sp>
        <p:nvSpPr>
          <p:cNvPr id="21" name="Oval 20"/>
          <p:cNvSpPr/>
          <p:nvPr/>
        </p:nvSpPr>
        <p:spPr>
          <a:xfrm>
            <a:off x="5700026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8000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74336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974336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303520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CT(사이클타임)는 OEE 성능가동률 계산의 기준입니다. 설비·모델이 바뀌면 새 적용기간으로 등록하세요.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 비가동 사유코드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비가동 사유코드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07</a:t>
            </a:r>
          </a:p>
        </p:txBody>
      </p:sp>
      <p:pic>
        <p:nvPicPr>
          <p:cNvPr id="8" name="Picture 7" descr="07_설비 비가동 사유코드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비가동 사유코드 · 표준시간 · 분류별 매뉴얼(BFILE)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27576" y="513592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198513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[OEE 반영]이 켜진 사유만 가동률 손실로 집계됩니다. 화면 표시 순서가 현장 화면의 사유 버튼 배열 순서입니다.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 비가동 사유코드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비가동 사유코드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07</a:t>
            </a:r>
          </a:p>
        </p:txBody>
      </p:sp>
      <p:pic>
        <p:nvPicPr>
          <p:cNvPr id="8" name="Picture 7" descr="07_설비 비가동 사유코드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비가동 사유코드 · 표준시간 · 분류별 매뉴얼(BFILE)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045803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설비 비가동 사유코드 · 설비 비가동 사유명</a:t>
            </a:r>
          </a:p>
        </p:txBody>
      </p:sp>
      <p:sp>
        <p:nvSpPr>
          <p:cNvPr id="18" name="Oval 17"/>
          <p:cNvSpPr/>
          <p:nvPr/>
        </p:nvSpPr>
        <p:spPr>
          <a:xfrm>
            <a:off x="6093875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설비 비가동 사유 코드 설 · 비가동 사유 구분 · OEE 반영여부 · 화면 표시 순서 · 수치…</a:t>
            </a:r>
          </a:p>
        </p:txBody>
      </p:sp>
      <p:sp>
        <p:nvSpPr>
          <p:cNvPr id="21" name="Oval 20"/>
          <p:cNvSpPr/>
          <p:nvPr/>
        </p:nvSpPr>
        <p:spPr>
          <a:xfrm>
            <a:off x="5700026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[OEE 반영]이 켜진 사유만 가동률 손실로 집계됩니다. 화면 표시 순서가 현장 화면의 사유 버튼 배열 순서입니다.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 비가동 사유코드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비가동 사유코드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07</a:t>
            </a:r>
          </a:p>
        </p:txBody>
      </p:sp>
      <p:pic>
        <p:nvPicPr>
          <p:cNvPr id="8" name="Picture 7" descr="07_설비 비가동 사유코드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 비가동 사유코드 · 표준시간 · 분류별 매뉴얼(BFILE)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045803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설비 비가동 사유코드 · 설비 비가동 사유명</a:t>
            </a:r>
          </a:p>
        </p:txBody>
      </p:sp>
      <p:sp>
        <p:nvSpPr>
          <p:cNvPr id="18" name="Oval 17"/>
          <p:cNvSpPr/>
          <p:nvPr/>
        </p:nvSpPr>
        <p:spPr>
          <a:xfrm>
            <a:off x="6093875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설비 비가동 사유 코드 설 · 비가동 사유 구분 · OEE 반영여부 · 화면 표시 순서 · 수치…</a:t>
            </a:r>
          </a:p>
        </p:txBody>
      </p:sp>
      <p:sp>
        <p:nvSpPr>
          <p:cNvPr id="21" name="Oval 20"/>
          <p:cNvSpPr/>
          <p:nvPr/>
        </p:nvSpPr>
        <p:spPr>
          <a:xfrm>
            <a:off x="5700026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88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30225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8000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189220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5189220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3080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518404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[OEE 반영]이 켜진 사유만 가동률 손실로 집계됩니다. 화면 표시 순서가 현장 화면의 사유 버튼 배열 순서입니다.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설비별 비가동 사유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설비별 비가동 사유 연계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08</a:t>
            </a:r>
          </a:p>
        </p:txBody>
      </p:sp>
      <p:pic>
        <p:nvPicPr>
          <p:cNvPr id="8" name="Picture 7" descr="08_설비별 비가동 사유 연계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설비마스터 × 비가동사유코드 매핑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951578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16630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927576" y="513592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198513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1378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연계된 사유가 있는 설비는 현장 화면에서 그 사유만 보입니다. 연계가 없으면 전체 사유가 표시됩니다.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설비별 비가동 사유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설비별 비가동 사유 연계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08</a:t>
            </a:r>
          </a:p>
        </p:txBody>
      </p:sp>
      <p:pic>
        <p:nvPicPr>
          <p:cNvPr id="8" name="Picture 7" descr="08_설비별 비가동 사유 연계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설비마스터 × 비가동사유코드 매핑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981267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입력 항목을 채웁니다.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019829" y="21130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설비코드설비선택 · 설비명 · 설비유형 / 라인 · 공정</a:t>
            </a:r>
          </a:p>
        </p:txBody>
      </p:sp>
      <p:sp>
        <p:nvSpPr>
          <p:cNvPr id="21" name="Oval 20"/>
          <p:cNvSpPr/>
          <p:nvPr/>
        </p:nvSpPr>
        <p:spPr>
          <a:xfrm>
            <a:off x="5597728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연계된 사유가 있는 설비는 현장 화면에서 그 사유만 보입니다. 연계가 없으면 전체 사유가 표시됩니다.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설비별 비가동 사유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설비별 비가동 사유 연계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08</a:t>
            </a:r>
          </a:p>
        </p:txBody>
      </p:sp>
      <p:pic>
        <p:nvPicPr>
          <p:cNvPr id="8" name="Picture 7" descr="08_설비별 비가동 사유 연계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설비마스터 × 비가동사유코드 매핑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981267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입력 항목을 채웁니다.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230700" y="21130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설비코드 · 설비명 · 설비유형 / 라인 · 공정</a:t>
            </a:r>
          </a:p>
        </p:txBody>
      </p:sp>
      <p:sp>
        <p:nvSpPr>
          <p:cNvPr id="21" name="Oval 20"/>
          <p:cNvSpPr/>
          <p:nvPr/>
        </p:nvSpPr>
        <p:spPr>
          <a:xfrm>
            <a:off x="5597728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998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438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6576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80002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연계된 사유가 있는 설비는 현장 화면에서 그 사유만 보입니다. 연계가 없으면 전체 사유가 표시됩니다.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공정관리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공정관리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09</a:t>
            </a:r>
          </a:p>
        </p:txBody>
      </p:sp>
      <p:pic>
        <p:nvPicPr>
          <p:cNvPr id="8" name="Picture 7" descr="09_공정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공정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939789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7927576" y="355725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8047777" y="197490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1621745" y="258820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공정은 라우팅·생산실적·공정 CAPA의 기준입니다. 시작공정과 정렬순서로 공정 흐름을 정의합니다.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공정관리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공정관리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09</a:t>
            </a:r>
          </a:p>
        </p:txBody>
      </p:sp>
      <p:pic>
        <p:nvPicPr>
          <p:cNvPr id="8" name="Picture 7" descr="09_공정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공정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794932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공정코드 · 공정유형 · 공정명 · 정렬순서</a:t>
            </a:r>
          </a:p>
        </p:txBody>
      </p:sp>
      <p:sp>
        <p:nvSpPr>
          <p:cNvPr id="18" name="Oval 17"/>
          <p:cNvSpPr/>
          <p:nvPr/>
        </p:nvSpPr>
        <p:spPr>
          <a:xfrm>
            <a:off x="6261389" y="261426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시작공정 · 공정그룹 · 공정상태 · 부서 · 교대…</a:t>
            </a:r>
          </a:p>
        </p:txBody>
      </p:sp>
      <p:sp>
        <p:nvSpPr>
          <p:cNvPr id="21" name="Oval 20"/>
          <p:cNvSpPr/>
          <p:nvPr/>
        </p:nvSpPr>
        <p:spPr>
          <a:xfrm>
            <a:off x="5679567" y="355541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70453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공정은 라우팅·생산실적·공정 CAPA의 기준입니다. 시작공정과 정렬순서로 공정 흐름을 정의합니다.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공정관리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공정관리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09</a:t>
            </a:r>
          </a:p>
        </p:txBody>
      </p:sp>
      <p:pic>
        <p:nvPicPr>
          <p:cNvPr id="8" name="Picture 7" descr="09_공정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공정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794932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공정코드 · 공정유형 · 공정명 · 정렬순서</a:t>
            </a:r>
          </a:p>
        </p:txBody>
      </p:sp>
      <p:sp>
        <p:nvSpPr>
          <p:cNvPr id="18" name="Oval 17"/>
          <p:cNvSpPr/>
          <p:nvPr/>
        </p:nvSpPr>
        <p:spPr>
          <a:xfrm>
            <a:off x="6261389" y="261426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시작공정 · 공정그룹 · 공정상태 · 부서 · 교대…</a:t>
            </a:r>
          </a:p>
        </p:txBody>
      </p:sp>
      <p:sp>
        <p:nvSpPr>
          <p:cNvPr id="21" name="Oval 20"/>
          <p:cNvSpPr/>
          <p:nvPr/>
        </p:nvSpPr>
        <p:spPr>
          <a:xfrm>
            <a:off x="5679567" y="355541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70453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636785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74336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974336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303520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공정은 라우팅·생산실적·공정 CAPA의 기준입니다. 시작공정과 정렬순서로 공정 흐름을 정의합니다.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공정관리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공정관리 — 설비배치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09</a:t>
            </a:r>
          </a:p>
        </p:txBody>
      </p:sp>
      <p:pic>
        <p:nvPicPr>
          <p:cNvPr id="8" name="Picture 7" descr="09_공정관리_설비배ᄎ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공정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공정을 선택한 뒤 [설비 배치]를 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986911" y="248335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배치할 설비와 라인코드를 고릅니다.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941396" y="31431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저장하면 그 공정에서 가동할 설비로 등록됩니다.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공정은 라우팅·생산실적·공정 CAPA의 기준입니다. 시작공정과 정렬순서로 공정 흐름을 정의합니다.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생산라인관리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생산라인관리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10</a:t>
            </a:r>
          </a:p>
        </p:txBody>
      </p:sp>
      <p:pic>
        <p:nvPicPr>
          <p:cNvPr id="8" name="Picture 7" descr="10_생산라인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생산라인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10599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698469" y="23068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845737" y="505408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32411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703584" y="271608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OEE 라인 속성(OEE유형·상위라인코드)을 이 화면에서 통합 관리합니다. 집계 단위가 바뀌므로 신중히 설정하세요.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생산라인관리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생산라인관리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10</a:t>
            </a:r>
          </a:p>
        </p:txBody>
      </p:sp>
      <p:pic>
        <p:nvPicPr>
          <p:cNvPr id="8" name="Picture 7" descr="10_생산라인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생산라인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204126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라인코드 · 라인명 · 라인구분</a:t>
            </a:r>
          </a:p>
        </p:txBody>
      </p:sp>
      <p:sp>
        <p:nvSpPr>
          <p:cNvPr id="18" name="Oval 17"/>
          <p:cNvSpPr/>
          <p:nvPr/>
        </p:nvSpPr>
        <p:spPr>
          <a:xfrm>
            <a:off x="6568285" y="242501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라인그룹 · 제품구분 · 라인상태 · 작업장 · OEE유형…</a:t>
            </a:r>
          </a:p>
        </p:txBody>
      </p:sp>
      <p:sp>
        <p:nvSpPr>
          <p:cNvPr id="21" name="Oval 20"/>
          <p:cNvSpPr/>
          <p:nvPr/>
        </p:nvSpPr>
        <p:spPr>
          <a:xfrm>
            <a:off x="6088761" y="355541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70453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OEE 라인 속성(OEE유형·상위라인코드)을 이 화면에서 통합 관리합니다. 집계 단위가 바뀌므로 신중히 설정하세요.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생산라인관리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생산라인관리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10</a:t>
            </a:r>
          </a:p>
        </p:txBody>
      </p:sp>
      <p:pic>
        <p:nvPicPr>
          <p:cNvPr id="8" name="Picture 7" descr="10_생산라인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생산라인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204126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라인코드 · 라인명 · 라인구분</a:t>
            </a:r>
          </a:p>
        </p:txBody>
      </p:sp>
      <p:sp>
        <p:nvSpPr>
          <p:cNvPr id="18" name="Oval 17"/>
          <p:cNvSpPr/>
          <p:nvPr/>
        </p:nvSpPr>
        <p:spPr>
          <a:xfrm>
            <a:off x="6568285" y="242501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라인그룹 · 제품구분 · 라인상태 · 작업장 · OEE유형…</a:t>
            </a:r>
          </a:p>
        </p:txBody>
      </p:sp>
      <p:sp>
        <p:nvSpPr>
          <p:cNvPr id="21" name="Oval 20"/>
          <p:cNvSpPr/>
          <p:nvPr/>
        </p:nvSpPr>
        <p:spPr>
          <a:xfrm>
            <a:off x="6088761" y="355541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970453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636785" y="19697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974336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974336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303520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OEE 라인 속성(OEE유형·상위라인코드)을 이 화면에서 통합 관리합니다. 집계 단위가 바뀌므로 신중히 설정하세요.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생산월력관리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생산월력관리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11</a:t>
            </a:r>
          </a:p>
        </p:txBody>
      </p:sp>
      <p:pic>
        <p:nvPicPr>
          <p:cNvPr id="8" name="Picture 7" descr="11_생산월력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전사 근무일과 라인별 예외, 2교대 근무시간을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[월력] · [교대시간] 탭으로 관리 대상을 전환합니다.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29676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좌측에서 설비 또는 라인을 고르고 대상을 선택합니다.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460753" y="242964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달력의 날짜를 클릭해 근무유형 · 근무시간을 편집합니다.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3147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[연간 생성] · [확정] · [확정취소]로 연 단위 일정을 확정합니다.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8001143" y="159128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확정된 일자는 잠겨 편집·연간생성·복사가 모두 막힙니다. 다시 편집하려면 먼저 확정취소해야 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생산월력관리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생산월력관리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11</a:t>
            </a:r>
          </a:p>
        </p:txBody>
      </p:sp>
      <p:pic>
        <p:nvPicPr>
          <p:cNvPr id="8" name="Picture 7" descr="11_생산월력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전사 근무일과 라인별 예외, 2교대 근무시간을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986911" y="270585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입력 항목을 채웁니다.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158780" y="346797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토요일 근무 · 일요일 근무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0998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290233" y="37139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확정된 일자는 잠겨 편집·연간생성·복사가 모두 막힙니다. 다시 편집하려면 먼저 확정취소해야 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작업자관리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작업자관리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12</a:t>
            </a:r>
          </a:p>
        </p:txBody>
      </p:sp>
      <p:pic>
        <p:nvPicPr>
          <p:cNvPr id="8" name="Picture 7" descr="12_작업자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작업자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975194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025824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2885132" y="222504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47777" y="20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21745" y="268411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여기 등록한 작업자가 현장 화면의 작업자 선택 목록이 됩니다. 미등록이면 실적에 작업자가 남지 않습니다.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작업자관리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작업자관리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12</a:t>
            </a:r>
          </a:p>
        </p:txBody>
      </p:sp>
      <p:pic>
        <p:nvPicPr>
          <p:cNvPr id="8" name="Picture 7" descr="12_작업자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작업자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5325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사번 · 이름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82733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영문명 · 부서 · 직급 · 전화번호 · 이메일…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998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여기 등록한 작업자가 현장 화면의 작업자 선택 목록이 됩니다. 미등록이면 실적에 작업자가 남지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작업자관리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작업자관리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12</a:t>
            </a:r>
          </a:p>
        </p:txBody>
      </p:sp>
      <p:pic>
        <p:nvPicPr>
          <p:cNvPr id="8" name="Picture 7" descr="12_작업자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작업자 정보를 등록하고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153257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사번 · 이름</a:t>
            </a:r>
          </a:p>
        </p:txBody>
      </p:sp>
      <p:sp>
        <p:nvSpPr>
          <p:cNvPr id="18" name="Oval 17"/>
          <p:cNvSpPr/>
          <p:nvPr/>
        </p:nvSpPr>
        <p:spPr>
          <a:xfrm>
            <a:off x="6537595" y="282733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영문명 · 부서 · 직급 · 전화번호 · 이메일…</a:t>
            </a:r>
          </a:p>
        </p:txBody>
      </p:sp>
      <p:sp>
        <p:nvSpPr>
          <p:cNvPr id="21" name="Oval 20"/>
          <p:cNvSpPr/>
          <p:nvPr/>
        </p:nvSpPr>
        <p:spPr>
          <a:xfrm>
            <a:off x="6006922" y="33712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861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998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93212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438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6576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759543" y="147875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여기 등록한 작업자가 현장 화면의 작업자 선택 목록이 됩니다. 미등록이면 실적에 작업자가 남지 않습니다.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구매단가관리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구매단가관리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13</a:t>
            </a:r>
          </a:p>
        </p:txBody>
      </p:sp>
      <p:pic>
        <p:nvPicPr>
          <p:cNvPr id="8" name="Picture 7" descr="13_구매단가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품목·공급사별 적용 기간과 구매단가를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509217" y="17186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3908117" y="21432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8088696" y="19237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1580826" y="254217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같은 품목×공급사에서 기간이 겹치면 적용 단가가 모호해집니다. 기존 단가의 종료일을 닫고 새 단가를 등록하세요.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구매단가관리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구매단가관리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13</a:t>
            </a:r>
          </a:p>
        </p:txBody>
      </p:sp>
      <p:pic>
        <p:nvPicPr>
          <p:cNvPr id="8" name="Picture 7" descr="13_구매단가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품목·공급사별 적용 기간과 구매단가를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품목 · 공급사 · 구입유형 · 단가형태 · 시작일…</a:t>
            </a:r>
          </a:p>
        </p:txBody>
      </p:sp>
      <p:sp>
        <p:nvSpPr>
          <p:cNvPr id="18" name="Oval 17"/>
          <p:cNvSpPr/>
          <p:nvPr/>
        </p:nvSpPr>
        <p:spPr>
          <a:xfrm>
            <a:off x="5909738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기준단가 · 세율(%)</a:t>
            </a:r>
          </a:p>
        </p:txBody>
      </p:sp>
      <p:sp>
        <p:nvSpPr>
          <p:cNvPr id="21" name="Oval 20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같은 품목×공급사에서 기간이 겹치면 적용 단가가 모호해집니다. 기존 단가의 종료일을 닫고 새 단가를 등록하세요.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구매단가관리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구매단가관리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13</a:t>
            </a:r>
          </a:p>
        </p:txBody>
      </p:sp>
      <p:pic>
        <p:nvPicPr>
          <p:cNvPr id="8" name="Picture 7" descr="13_구매단가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품목·공급사별 적용 기간과 구매단가를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품목 · 공급사 · 구입유형 · 단가형태 · 시작일…</a:t>
            </a:r>
          </a:p>
        </p:txBody>
      </p:sp>
      <p:sp>
        <p:nvSpPr>
          <p:cNvPr id="18" name="Oval 17"/>
          <p:cNvSpPr/>
          <p:nvPr/>
        </p:nvSpPr>
        <p:spPr>
          <a:xfrm>
            <a:off x="5909738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971800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기준단가 · 세율(%) · 승인여부 · 승인번호 · 승인자…</a:t>
            </a:r>
          </a:p>
        </p:txBody>
      </p:sp>
      <p:sp>
        <p:nvSpPr>
          <p:cNvPr id="21" name="Oval 20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88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302252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5189220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5189220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53080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518404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같은 품목×공급사에서 기간이 겹치면 적용 단가가 모호해집니다. 기존 단가의 종료일을 닫고 새 단가를 등록하세요.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품목별 공급처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품목별 공급처 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14</a:t>
            </a:r>
          </a:p>
        </p:txBody>
      </p:sp>
      <p:pic>
        <p:nvPicPr>
          <p:cNvPr id="8" name="Picture 7" descr="14_품목별 공급처 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IM_ITEM_MASTER (1943건)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897871" y="173913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128123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3396624" y="220458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68236" y="198513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601285" y="260355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발주율은 한 품목을 여러 공급처로 나눠 발주할 때의 배분 비율입니다. 합계가 100%가 되도록 관리하세요.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품목별 공급처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품목별 공급처 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14</a:t>
            </a:r>
          </a:p>
        </p:txBody>
      </p:sp>
      <p:pic>
        <p:nvPicPr>
          <p:cNvPr id="8" name="Picture 7" descr="14_품목별 공급처 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IM_ITEM_MASTER (1943건)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공급처 · 품목</a:t>
            </a:r>
          </a:p>
        </p:txBody>
      </p:sp>
      <p:sp>
        <p:nvSpPr>
          <p:cNvPr id="18" name="Oval 17"/>
          <p:cNvSpPr/>
          <p:nvPr/>
        </p:nvSpPr>
        <p:spPr>
          <a:xfrm>
            <a:off x="5705141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시작일 · 종료일 · 발주형태 · 지불유형 · 발주율…</a:t>
            </a:r>
          </a:p>
        </p:txBody>
      </p:sp>
      <p:sp>
        <p:nvSpPr>
          <p:cNvPr id="21" name="Oval 20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발주율은 한 품목을 여러 공급처로 나눠 발주할 때의 배분 비율입니다. 합계가 100%가 되도록 관리하세요.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품목별 공급처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품목별 공급처 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14</a:t>
            </a:r>
          </a:p>
        </p:txBody>
      </p:sp>
      <p:pic>
        <p:nvPicPr>
          <p:cNvPr id="8" name="Picture 7" descr="14_품목별 공급처 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IM_ITEM_MASTER (1943건)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공급처 · 품목</a:t>
            </a:r>
          </a:p>
        </p:txBody>
      </p:sp>
      <p:sp>
        <p:nvSpPr>
          <p:cNvPr id="18" name="Oval 17"/>
          <p:cNvSpPr/>
          <p:nvPr/>
        </p:nvSpPr>
        <p:spPr>
          <a:xfrm>
            <a:off x="5705141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시작일 · 종료일 · 발주형태 · 지불유형 · 발주율…</a:t>
            </a:r>
          </a:p>
        </p:txBody>
      </p:sp>
      <p:sp>
        <p:nvSpPr>
          <p:cNvPr id="21" name="Oval 20"/>
          <p:cNvSpPr/>
          <p:nvPr/>
        </p:nvSpPr>
        <p:spPr>
          <a:xfrm>
            <a:off x="5602843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4974336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4974336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303520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발주율은 한 품목을 여러 공급처로 나눠 발주할 때의 배분 비율입니다. 합계가 100%가 되도록 관리하세요.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제품판매단가관리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제품판매단가관리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15</a:t>
            </a:r>
          </a:p>
        </p:txBody>
      </p:sp>
      <p:pic>
        <p:nvPicPr>
          <p:cNvPr id="8" name="Picture 7" descr="15_제품판매단가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고객·제품별 판매단가와 적용 기간을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화면 제목 옆에서 전체 건수를 확인합니다.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50600" y="17186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검색어로 대상을 조회합니다.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283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542032"/>
            <a:ext cx="2889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필터로 목록 범위를 좁힙니다.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2803293" y="214321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8849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상단 등록 버튼으로 신규 등록 화면을 엽니다.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8088696" y="192375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29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34427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수정·삭제 아이콘으로 기존 자료를 편집합니다.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1580826" y="254217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구매단가와 동일하게 고객×품목 기간 중복을 피합니다. 외화판매단가는 통화 기준을 함께 확인하세요.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제품판매단가관리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제품판매단가관리 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15</a:t>
            </a:r>
          </a:p>
        </p:txBody>
      </p:sp>
      <p:pic>
        <p:nvPicPr>
          <p:cNvPr id="8" name="Picture 7" descr="15_제품판매단가관리_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고객·제품별 판매단가와 적용 기간을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등록 버튼을 누르면 입력 화면이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고객 · 품목 · 제품라인유형 · 시작일</a:t>
            </a:r>
          </a:p>
        </p:txBody>
      </p:sp>
      <p:sp>
        <p:nvSpPr>
          <p:cNvPr id="18" name="Oval 17"/>
          <p:cNvSpPr/>
          <p:nvPr/>
        </p:nvSpPr>
        <p:spPr>
          <a:xfrm>
            <a:off x="5909738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종료일 · 판매단가 · 기준판매단가 · 외화판매단가 · 세율(%)…</a:t>
            </a:r>
          </a:p>
        </p:txBody>
      </p:sp>
      <p:sp>
        <p:nvSpPr>
          <p:cNvPr id="21" name="Oval 20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구매단가와 동일하게 고객×품목 기간 중복을 피합니다. 외화판매단가는 통화 기준을 함께 확인하세요.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기준정보  ›  제품판매단가관리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제품판매단가관리 —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15</a:t>
            </a:r>
          </a:p>
        </p:txBody>
      </p:sp>
      <p:pic>
        <p:nvPicPr>
          <p:cNvPr id="8" name="Picture 7" descr="15_제품판매단가관리_수저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고객·제품별 판매단가와 적용 기간을 관리합니다.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수정할 행을 선택하면 기존 값이 채워진 상태로 열립니다.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필수 항목(*) — 고객 · 품목 · 제품라인유형 · 시작일</a:t>
            </a:r>
          </a:p>
        </p:txBody>
      </p:sp>
      <p:sp>
        <p:nvSpPr>
          <p:cNvPr id="18" name="Oval 17"/>
          <p:cNvSpPr/>
          <p:nvPr/>
        </p:nvSpPr>
        <p:spPr>
          <a:xfrm>
            <a:off x="5909738" y="194932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항목 — 종료일 · 판매단가 · 기준판매단가 · 외화판매단가 · 세율(%)…</a:t>
            </a:r>
          </a:p>
        </p:txBody>
      </p:sp>
      <p:sp>
        <p:nvSpPr>
          <p:cNvPr id="21" name="Oval 20"/>
          <p:cNvSpPr/>
          <p:nvPr/>
        </p:nvSpPr>
        <p:spPr>
          <a:xfrm>
            <a:off x="5807440" y="33278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158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5295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[저장]으로 반영합니다. 취소하면 입력값은 버려집니다.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736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0873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코드 등 키 항목은 수정할 수 없습니다. 잘못 등록했으면 삭제 후 다시 등록합니다.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4974336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4974336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509320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303520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구매단가와 동일하게 고객×품목 기간 중복을 피합니다. 외화판매단가는 통화 기준을 함께 확인하세요.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OEE 비가동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OEE 비가동 입력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16</a:t>
            </a:r>
          </a:p>
        </p:txBody>
      </p:sp>
      <p:pic>
        <p:nvPicPr>
          <p:cNvPr id="8" name="Picture 7" descr="16_OEE 비가동 입력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C / OPERATIONS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작업장(전체 · SMT · ASSY)을 고릅니다.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82088" y="280559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목록에서 대상 LINE/CELL을 체크합니다.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350590" y="41636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 · 가능 · 실패 건수로 명령 대상을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907148" y="27472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[비가동 START]로 비가동을 시작합니다.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7733720" y="230532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104241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104241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작업장(전체·SMT·ASSY)을 고른 뒤 LINE/CELL을 선택해야 명령이 활성화됩니다. 상단에서 통신 상태를 확인하세요.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OEE 종합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OEE 종합 현황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17</a:t>
            </a:r>
          </a:p>
        </p:txBody>
      </p:sp>
      <p:pic>
        <p:nvPicPr>
          <p:cNvPr id="8" name="Picture 7" descr="17_OEE 종합 현황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상단 KPI에서 공장 종합 OEE와 가동율 · 성능율 · 양품율을 봅니다.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00249" y="204602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003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414016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라인 카드에서 라인별 OEE와 상태(가동 · 주의 · 비가동)를 비교합니다.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409443" y="296671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729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3186684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선택한 라인의 설비별 지표를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2409443" y="388740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30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744468"/>
            <a:ext cx="28895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하단 경고 줄에서 무작업 경과 · 검사 재시도 등 이상을 확인합니다.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3637026" y="490015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조회 기간과 라인 조건에 따라 집계가 달라집니다. 설비·모델별 가동률 추이를 비교할 때 사용합니다.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설비별 작업 실적관리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설비별 작업 실적관리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18</a:t>
            </a:r>
          </a:p>
        </p:txBody>
      </p:sp>
      <p:pic>
        <p:nvPicPr>
          <p:cNvPr id="8" name="Picture 7" descr="18_설비별 작업 실적관리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작업지시(IP_PRODUCT_RUN_CARD) 기준 설비 가동상태 · 계획/실적 · 실적/불량/비가동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계획일(From ~ To) 범위를 지정합니다.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754733" y="22209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라인을 고르고 품번 · 품명 · 설비코드로 검색합니다.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656582" y="20015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[조회]를 누르면 작업지시 카드가 나열됩니다.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5489515" y="2000478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카드에서 계획수량 / 실적수량 / 부적합수량을 확인합니다.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3186912" y="2957506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카드 우측 [실적등록] · [불량등록]으로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070826" y="255391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실적·불량은 작업지시 행의 버튼으로 등록합니다. 비가동은 작업지시 없이 설비만 선택해도 등록됩니다.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설비별 작업 실적관리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설비별 작업 실적관리 — 실적등록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18</a:t>
            </a:r>
          </a:p>
        </p:txBody>
      </p:sp>
      <p:pic>
        <p:nvPicPr>
          <p:cNvPr id="8" name="Picture 7" descr="18_설비별 작업 실적관리_실적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작업지시(IP_PRODUCT_RUN_CARD) 기준 설비 가동상태 · 계획/실적 · 실적/불량/비가동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작업지시 카드의 [실적등록]으로 우측 패널을 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99308" y="148387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실적 이력에서 이미 등록된 실적을 확인합니다.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5707699" y="210789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[신규 실적]으로 입력 폼을 펼쳐 실적을 등록합니다.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8037507" y="179588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실적·불량은 작업지시 행의 버튼으로 등록합니다. 비가동은 작업지시 없이 설비만 선택해도 등록됩니다.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운영 현황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19</a:t>
            </a:r>
          </a:p>
        </p:txBody>
      </p:sp>
      <p:pic>
        <p:nvPicPr>
          <p:cNvPr id="8" name="Picture 7" descr="19_설비 운영 현황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설비마스터 기준 현재 가동상태 · 라인/설비 단위 비가동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[모니터링] · [비가동 처리] 탭으로 모드를 전환합니다.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1672894" y="2156509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설비유형 · 적용공정 · 상태로 대상을 좁힙니다.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836572" y="255240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전체 · 비가동 · 표시 대수를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684617" y="2351362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자동갱신 주기를 정하고 [조회]합니다.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8028116" y="1652663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[비가동 관리]로 해당 설비를 처리합니다.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881030" y="279329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자동갱신(10·30·60초)을 켜면 현황판으로 쓸 수 있습니다. 상태 배지는 빨강=비가동, 초록=정상입니다.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운영 현황 — 비가동관리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19</a:t>
            </a:r>
          </a:p>
        </p:txBody>
      </p:sp>
      <p:pic>
        <p:nvPicPr>
          <p:cNvPr id="8" name="Picture 7" descr="19_설비 운영 현황_비가동관ᄅ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설비마스터 기준 현재 가동상태 · 라인/설비 단위 비가동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행의 [비가동 관리]를 누르면 비가동 처리로 전환됩니다.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853914" y="229714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대상 설비를 확인하고 원인설비를 체크합니다.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1534791" y="344240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사유를 고른 뒤 비가동 시작 / 가동 전환을 실행합니다.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113056" y="488437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▶ 자동갱신(10·30·60초)을 켜면 현황판으로 쓸 수 있습니다. 상태 배지는 빨강=비가동, 초록=정상입니다.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및 실적관리(현장)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운영 및 실적관리(현장) —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20</a:t>
            </a:r>
          </a:p>
        </p:txBody>
      </p:sp>
      <p:pic>
        <p:nvPicPr>
          <p:cNvPr id="8" name="Picture 7" descr="20_설비 운영 및 실적관리(현장)_목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현장 작업자용 · 라인/설비 비가동 처리와 작업실적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[라인] 또는 [설비] 단위를 고르고 대상을 선택합니다.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082088" y="222095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바코드를 스캔하거나 작업자를 선택합니다.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574743" y="204753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당일 지표에서 가동율 · 당일 비가동 시간을 확인합니다.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2245766" y="3150850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14700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비가동 사유를 고르고 [비가동 시작]을 누릅니다.</a:t>
            </a:r>
          </a:p>
        </p:txBody>
      </p:sp>
      <p:sp>
        <p:nvSpPr>
          <p:cNvPr id="24" name="Oval 23"/>
          <p:cNvSpPr/>
          <p:nvPr/>
        </p:nvSpPr>
        <p:spPr>
          <a:xfrm>
            <a:off x="4656582" y="5081197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872483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우측 작업실적 관리에서 작업지시를 조회해 실적을 등록합니다.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7111745" y="2448034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이미 비가동 중이면 버튼이 [가동 전환]으로 바뀝니다. 종료 시 비가동 사유 선택은 필수입니다.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Malgun Gothic"/>
              </a:rPr>
              <a:t>OEE 관리  ›  설비 운영 및 실적관리(현장)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설비 운영 및 실적관리(현장) — 실적등록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40233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rgbClr val="596272"/>
                </a:solidFill>
                <a:latin typeface="Malgun Gothic"/>
              </a:rPr>
              <a:t>20</a:t>
            </a:r>
          </a:p>
        </p:txBody>
      </p:sp>
      <p:pic>
        <p:nvPicPr>
          <p:cNvPr id="8" name="Picture 7" descr="20_설비 운영 및 실적관리(현장)_실적등로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70432"/>
            <a:ext cx="8183879" cy="4603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2608" y="1170432"/>
            <a:ext cx="8183879" cy="4603432"/>
          </a:xfrm>
          <a:prstGeom prst="rect">
            <a:avLst/>
          </a:prstGeom>
          <a:noFill/>
          <a:ln w="9525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5920168"/>
            <a:ext cx="8183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</a:rPr>
              <a:t>현장 작업자용 · 라인/설비 비가동 처리와 작업실적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52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430"/>
                </a:solidFill>
                <a:latin typeface="Malgun Gothic"/>
              </a:rPr>
              <a:t>조작방법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3200400" cy="2286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41348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작업지시를 고르고 [작업 실적 등록]을 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2949508" y="193094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85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199132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실적수량 · 작업시간 · 투입인원을 키패드로 입력합니다.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2934562" y="4329841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007E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756916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2E3440"/>
                </a:solidFill>
                <a:latin typeface="Malgun Gothic"/>
              </a:rPr>
              <a:t>헤더의 [저장]을 누르면 저장 후 화면이 닫힙니다.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5719886" y="1711485"/>
            <a:ext cx="274320" cy="274320"/>
          </a:xfrm>
          <a:prstGeom prst="ellipse">
            <a:avLst/>
          </a:prstGeom>
          <a:solidFill>
            <a:srgbClr val="E600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859464"/>
            <a:ext cx="3200400" cy="859536"/>
          </a:xfrm>
          <a:prstGeom prst="rect">
            <a:avLst/>
          </a:prstGeom>
          <a:solidFill>
            <a:srgbClr val="E9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4859464"/>
            <a:ext cx="45720" cy="85953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978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2430"/>
                </a:solidFill>
                <a:latin typeface="Malgun Gothic"/>
              </a:rPr>
              <a:t>운영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5188648"/>
            <a:ext cx="283464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44C59"/>
                </a:solidFill>
                <a:latin typeface="Malgun Gothic"/>
              </a:rPr>
              <a:t>※ 이미 비가동 중이면 버튼이 [가동 전환]으로 바뀝니다. 종료 시 비가동 사유 선택은 필수입니다.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2A9B4"/>
                </a:solidFill>
                <a:latin typeface="Malgun Gothic"/>
              </a:rPr>
              <a:t>은성 전장 OEE 관리 매뉴얼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